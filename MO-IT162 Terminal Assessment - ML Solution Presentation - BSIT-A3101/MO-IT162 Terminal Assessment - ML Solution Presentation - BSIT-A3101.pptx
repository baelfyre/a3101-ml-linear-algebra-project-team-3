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D4B88F-D0F6-4BDC-ACF7-8372D9A51A7B}" v="3" dt="2026-10-31T23:02:11.9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8170" autoAdjust="0"/>
  </p:normalViewPr>
  <p:slideViewPr>
    <p:cSldViewPr snapToGrid="0" snapToObjects="1">
      <p:cViewPr varScale="1">
        <p:scale>
          <a:sx n="65" d="100"/>
          <a:sy n="65" d="100"/>
        </p:scale>
        <p:origin x="1330" y="38"/>
      </p:cViewPr>
      <p:guideLst/>
    </p:cSldViewPr>
  </p:slideViewPr>
  <p:notesTextViewPr>
    <p:cViewPr>
      <p:scale>
        <a:sx n="3" d="2"/>
        <a:sy n="3" d="2"/>
      </p:scale>
      <p:origin x="0" y="-209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Ongo" userId="da00b8376fd27a7c" providerId="LiveId" clId="{4739AF63-D128-4AC7-8BF9-4774AA6E3E71}"/>
    <pc:docChg chg="undo custSel modSld">
      <pc:chgData name="James Ongo" userId="da00b8376fd27a7c" providerId="LiveId" clId="{4739AF63-D128-4AC7-8BF9-4774AA6E3E71}" dt="2026-10-30T15:09:05.267" v="95"/>
      <pc:docMkLst>
        <pc:docMk/>
      </pc:docMkLst>
      <pc:sldChg chg="addSp delSp modSp mod modNotesTx">
        <pc:chgData name="James Ongo" userId="da00b8376fd27a7c" providerId="LiveId" clId="{4739AF63-D128-4AC7-8BF9-4774AA6E3E71}" dt="2026-10-30T14:52:53" v="58"/>
        <pc:sldMkLst>
          <pc:docMk/>
          <pc:sldMk cId="0" sldId="256"/>
        </pc:sldMkLst>
        <pc:picChg chg="del mod">
          <ac:chgData name="James Ongo" userId="da00b8376fd27a7c" providerId="LiveId" clId="{4739AF63-D128-4AC7-8BF9-4774AA6E3E71}" dt="2026-10-30T14:50:46.160" v="43" actId="21"/>
          <ac:picMkLst>
            <pc:docMk/>
            <pc:sldMk cId="0" sldId="256"/>
            <ac:picMk id="14" creationId="{00000000-0000-0000-0000-000000000000}"/>
          </ac:picMkLst>
        </pc:picChg>
        <pc:picChg chg="add del mod">
          <ac:chgData name="James Ongo" userId="da00b8376fd27a7c" providerId="LiveId" clId="{4739AF63-D128-4AC7-8BF9-4774AA6E3E71}" dt="2026-10-30T14:46:17.658" v="21" actId="34818"/>
          <ac:picMkLst>
            <pc:docMk/>
            <pc:sldMk cId="0" sldId="256"/>
            <ac:picMk id="17" creationId="{B9631D9B-568E-B1FE-6376-A4373D46F2B2}"/>
          </ac:picMkLst>
        </pc:picChg>
        <pc:picChg chg="add del mod">
          <ac:chgData name="James Ongo" userId="da00b8376fd27a7c" providerId="LiveId" clId="{4739AF63-D128-4AC7-8BF9-4774AA6E3E71}" dt="2026-10-30T14:46:32.175" v="23" actId="34818"/>
          <ac:picMkLst>
            <pc:docMk/>
            <pc:sldMk cId="0" sldId="256"/>
            <ac:picMk id="18" creationId="{CF438FA2-3788-CE27-FD71-0BA0D1668AD9}"/>
          </ac:picMkLst>
        </pc:picChg>
        <pc:picChg chg="add del mod">
          <ac:chgData name="James Ongo" userId="da00b8376fd27a7c" providerId="LiveId" clId="{4739AF63-D128-4AC7-8BF9-4774AA6E3E71}" dt="2026-10-30T14:52:53" v="58"/>
          <ac:picMkLst>
            <pc:docMk/>
            <pc:sldMk cId="0" sldId="256"/>
            <ac:picMk id="19" creationId="{441E56A4-C066-979D-D250-90D84CF03E9F}"/>
          </ac:picMkLst>
        </pc:picChg>
        <pc:picChg chg="add mod">
          <ac:chgData name="James Ongo" userId="da00b8376fd27a7c" providerId="LiveId" clId="{4739AF63-D128-4AC7-8BF9-4774AA6E3E71}" dt="2026-10-30T14:52:53" v="58"/>
          <ac:picMkLst>
            <pc:docMk/>
            <pc:sldMk cId="0" sldId="256"/>
            <ac:picMk id="20" creationId="{87B768C6-AC2D-3B9A-34E7-0BB94D171602}"/>
          </ac:picMkLst>
        </pc:picChg>
      </pc:sldChg>
      <pc:sldChg chg="addSp delSp modSp mod modTransition modAnim">
        <pc:chgData name="James Ongo" userId="da00b8376fd27a7c" providerId="LiveId" clId="{4739AF63-D128-4AC7-8BF9-4774AA6E3E71}" dt="2026-10-30T14:53:56.281" v="61"/>
        <pc:sldMkLst>
          <pc:docMk/>
          <pc:sldMk cId="0" sldId="257"/>
        </pc:sldMkLst>
        <pc:picChg chg="add del mod">
          <ac:chgData name="James Ongo" userId="da00b8376fd27a7c" providerId="LiveId" clId="{4739AF63-D128-4AC7-8BF9-4774AA6E3E71}" dt="2026-10-30T14:46:17.658" v="21" actId="34818"/>
          <ac:picMkLst>
            <pc:docMk/>
            <pc:sldMk cId="0" sldId="257"/>
            <ac:picMk id="40" creationId="{D884A622-0E25-469D-00C2-96D8BE18C1A8}"/>
          </ac:picMkLst>
        </pc:picChg>
        <pc:picChg chg="add del mod">
          <ac:chgData name="James Ongo" userId="da00b8376fd27a7c" providerId="LiveId" clId="{4739AF63-D128-4AC7-8BF9-4774AA6E3E71}" dt="2026-10-30T14:46:16.405" v="14" actId="34819"/>
          <ac:picMkLst>
            <pc:docMk/>
            <pc:sldMk cId="0" sldId="257"/>
            <ac:picMk id="41" creationId="{BC88D4B7-DE9A-227F-1C8F-05116F12A043}"/>
          </ac:picMkLst>
        </pc:picChg>
        <pc:picChg chg="add del mod">
          <ac:chgData name="James Ongo" userId="da00b8376fd27a7c" providerId="LiveId" clId="{4739AF63-D128-4AC7-8BF9-4774AA6E3E71}" dt="2026-10-30T14:46:32.175" v="23" actId="34818"/>
          <ac:picMkLst>
            <pc:docMk/>
            <pc:sldMk cId="0" sldId="257"/>
            <ac:picMk id="42" creationId="{B9478E9F-C181-F892-3A46-83F580BBF114}"/>
          </ac:picMkLst>
        </pc:picChg>
        <pc:picChg chg="add mod">
          <ac:chgData name="James Ongo" userId="da00b8376fd27a7c" providerId="LiveId" clId="{4739AF63-D128-4AC7-8BF9-4774AA6E3E71}" dt="2026-10-30T14:50:57.809" v="47" actId="29295"/>
          <ac:picMkLst>
            <pc:docMk/>
            <pc:sldMk cId="0" sldId="257"/>
            <ac:picMk id="44" creationId="{C6869A77-88FF-31FE-E202-EAA373C36562}"/>
          </ac:picMkLst>
        </pc:picChg>
        <pc:picChg chg="add del mod">
          <ac:chgData name="James Ongo" userId="da00b8376fd27a7c" providerId="LiveId" clId="{4739AF63-D128-4AC7-8BF9-4774AA6E3E71}" dt="2026-10-30T14:52:57.967" v="60"/>
          <ac:picMkLst>
            <pc:docMk/>
            <pc:sldMk cId="0" sldId="257"/>
            <ac:picMk id="46" creationId="{3CD4FC98-7438-D8DF-8BFC-F59A0F24DB66}"/>
          </ac:picMkLst>
        </pc:picChg>
        <pc:picChg chg="add del mod ord">
          <ac:chgData name="James Ongo" userId="da00b8376fd27a7c" providerId="LiveId" clId="{4739AF63-D128-4AC7-8BF9-4774AA6E3E71}" dt="2026-10-30T14:53:56.281" v="61"/>
          <ac:picMkLst>
            <pc:docMk/>
            <pc:sldMk cId="0" sldId="257"/>
            <ac:picMk id="49" creationId="{651CB030-60B8-7B6E-C403-C54EFBAB64C0}"/>
          </ac:picMkLst>
        </pc:picChg>
        <pc:picChg chg="add mod">
          <ac:chgData name="James Ongo" userId="da00b8376fd27a7c" providerId="LiveId" clId="{4739AF63-D128-4AC7-8BF9-4774AA6E3E71}" dt="2026-10-30T14:53:56.281" v="61"/>
          <ac:picMkLst>
            <pc:docMk/>
            <pc:sldMk cId="0" sldId="257"/>
            <ac:picMk id="50" creationId="{A304F081-DFBE-6B89-D0B4-8D150FD66C39}"/>
          </ac:picMkLst>
        </pc:picChg>
      </pc:sldChg>
      <pc:sldChg chg="addSp delSp modSp mod">
        <pc:chgData name="James Ongo" userId="da00b8376fd27a7c" providerId="LiveId" clId="{4739AF63-D128-4AC7-8BF9-4774AA6E3E71}" dt="2026-10-30T14:54:56.923" v="62"/>
        <pc:sldMkLst>
          <pc:docMk/>
          <pc:sldMk cId="0" sldId="258"/>
        </pc:sldMkLst>
        <pc:picChg chg="add del mod">
          <ac:chgData name="James Ongo" userId="da00b8376fd27a7c" providerId="LiveId" clId="{4739AF63-D128-4AC7-8BF9-4774AA6E3E71}" dt="2026-10-30T14:46:17.658" v="21" actId="34818"/>
          <ac:picMkLst>
            <pc:docMk/>
            <pc:sldMk cId="0" sldId="258"/>
            <ac:picMk id="32" creationId="{7038DEFF-5DAE-2384-B217-B763A93AA190}"/>
          </ac:picMkLst>
        </pc:picChg>
        <pc:picChg chg="add del mod">
          <ac:chgData name="James Ongo" userId="da00b8376fd27a7c" providerId="LiveId" clId="{4739AF63-D128-4AC7-8BF9-4774AA6E3E71}" dt="2026-10-30T14:46:16.405" v="14" actId="34819"/>
          <ac:picMkLst>
            <pc:docMk/>
            <pc:sldMk cId="0" sldId="258"/>
            <ac:picMk id="33" creationId="{E87E1F72-A26B-4BDD-272A-BEA233FD25D9}"/>
          </ac:picMkLst>
        </pc:picChg>
        <pc:picChg chg="add del mod">
          <ac:chgData name="James Ongo" userId="da00b8376fd27a7c" providerId="LiveId" clId="{4739AF63-D128-4AC7-8BF9-4774AA6E3E71}" dt="2026-10-30T14:46:32.175" v="23" actId="34818"/>
          <ac:picMkLst>
            <pc:docMk/>
            <pc:sldMk cId="0" sldId="258"/>
            <ac:picMk id="34" creationId="{A0609355-7D89-C96F-E18A-CA0C502F99D5}"/>
          </ac:picMkLst>
        </pc:picChg>
        <pc:picChg chg="add">
          <ac:chgData name="James Ongo" userId="da00b8376fd27a7c" providerId="LiveId" clId="{4739AF63-D128-4AC7-8BF9-4774AA6E3E71}" dt="2026-10-30T14:51:02.046" v="48" actId="22"/>
          <ac:picMkLst>
            <pc:docMk/>
            <pc:sldMk cId="0" sldId="258"/>
            <ac:picMk id="36" creationId="{626DEB24-E897-0565-406B-55EE06FF3EAA}"/>
          </ac:picMkLst>
        </pc:picChg>
        <pc:picChg chg="add mod">
          <ac:chgData name="James Ongo" userId="da00b8376fd27a7c" providerId="LiveId" clId="{4739AF63-D128-4AC7-8BF9-4774AA6E3E71}" dt="2026-10-30T14:54:56.923" v="62"/>
          <ac:picMkLst>
            <pc:docMk/>
            <pc:sldMk cId="0" sldId="258"/>
            <ac:picMk id="39" creationId="{DCF104ED-74DF-00CF-2178-B371F11FAD91}"/>
          </ac:picMkLst>
        </pc:picChg>
      </pc:sldChg>
      <pc:sldChg chg="addSp delSp modSp mod modTransition modAnim">
        <pc:chgData name="James Ongo" userId="da00b8376fd27a7c" providerId="LiveId" clId="{4739AF63-D128-4AC7-8BF9-4774AA6E3E71}" dt="2026-10-30T14:56:58.497" v="69"/>
        <pc:sldMkLst>
          <pc:docMk/>
          <pc:sldMk cId="0" sldId="259"/>
        </pc:sldMkLst>
        <pc:picChg chg="add del mod">
          <ac:chgData name="James Ongo" userId="da00b8376fd27a7c" providerId="LiveId" clId="{4739AF63-D128-4AC7-8BF9-4774AA6E3E71}" dt="2026-10-30T14:46:17.658" v="21" actId="34818"/>
          <ac:picMkLst>
            <pc:docMk/>
            <pc:sldMk cId="0" sldId="259"/>
            <ac:picMk id="34" creationId="{684E2721-C194-9F04-165A-D267C5470E77}"/>
          </ac:picMkLst>
        </pc:picChg>
        <pc:picChg chg="add del mod">
          <ac:chgData name="James Ongo" userId="da00b8376fd27a7c" providerId="LiveId" clId="{4739AF63-D128-4AC7-8BF9-4774AA6E3E71}" dt="2026-10-30T14:46:16.405" v="14" actId="34819"/>
          <ac:picMkLst>
            <pc:docMk/>
            <pc:sldMk cId="0" sldId="259"/>
            <ac:picMk id="35" creationId="{80764D88-8996-1F53-FE07-6D79EF4D54A6}"/>
          </ac:picMkLst>
        </pc:picChg>
        <pc:picChg chg="add del mod">
          <ac:chgData name="James Ongo" userId="da00b8376fd27a7c" providerId="LiveId" clId="{4739AF63-D128-4AC7-8BF9-4774AA6E3E71}" dt="2026-10-30T14:46:32.175" v="23" actId="34818"/>
          <ac:picMkLst>
            <pc:docMk/>
            <pc:sldMk cId="0" sldId="259"/>
            <ac:picMk id="36" creationId="{97B28B22-811E-4BC1-66CF-C19AC291A7EC}"/>
          </ac:picMkLst>
        </pc:picChg>
        <pc:picChg chg="add">
          <ac:chgData name="James Ongo" userId="da00b8376fd27a7c" providerId="LiveId" clId="{4739AF63-D128-4AC7-8BF9-4774AA6E3E71}" dt="2026-10-30T14:51:03.655" v="49" actId="22"/>
          <ac:picMkLst>
            <pc:docMk/>
            <pc:sldMk cId="0" sldId="259"/>
            <ac:picMk id="38" creationId="{FE495767-8B91-AF93-3D20-F51829281DE0}"/>
          </ac:picMkLst>
        </pc:picChg>
        <pc:picChg chg="add del mod">
          <ac:chgData name="James Ongo" userId="da00b8376fd27a7c" providerId="LiveId" clId="{4739AF63-D128-4AC7-8BF9-4774AA6E3E71}" dt="2026-10-30T14:55:35.917" v="65"/>
          <ac:picMkLst>
            <pc:docMk/>
            <pc:sldMk cId="0" sldId="259"/>
            <ac:picMk id="41" creationId="{FFA969C9-8437-B4D8-FCD2-D3AF01B29B23}"/>
          </ac:picMkLst>
        </pc:picChg>
        <pc:picChg chg="add del mod ord">
          <ac:chgData name="James Ongo" userId="da00b8376fd27a7c" providerId="LiveId" clId="{4739AF63-D128-4AC7-8BF9-4774AA6E3E71}" dt="2026-10-30T14:56:12.641" v="66"/>
          <ac:picMkLst>
            <pc:docMk/>
            <pc:sldMk cId="0" sldId="259"/>
            <ac:picMk id="44" creationId="{DDF9A87F-C179-26BB-AD0A-DDDA7F410DF6}"/>
          </ac:picMkLst>
        </pc:picChg>
        <pc:picChg chg="add del mod">
          <ac:chgData name="James Ongo" userId="da00b8376fd27a7c" providerId="LiveId" clId="{4739AF63-D128-4AC7-8BF9-4774AA6E3E71}" dt="2026-10-30T14:56:16.699" v="68"/>
          <ac:picMkLst>
            <pc:docMk/>
            <pc:sldMk cId="0" sldId="259"/>
            <ac:picMk id="45" creationId="{7E4EC145-37DD-9143-8D86-256184E82A6A}"/>
          </ac:picMkLst>
        </pc:picChg>
        <pc:picChg chg="add del mod ord">
          <ac:chgData name="James Ongo" userId="da00b8376fd27a7c" providerId="LiveId" clId="{4739AF63-D128-4AC7-8BF9-4774AA6E3E71}" dt="2026-10-30T14:56:58.497" v="69"/>
          <ac:picMkLst>
            <pc:docMk/>
            <pc:sldMk cId="0" sldId="259"/>
            <ac:picMk id="48" creationId="{4CFE33ED-8D11-6731-5135-42DA03E7F71C}"/>
          </ac:picMkLst>
        </pc:picChg>
        <pc:picChg chg="add mod">
          <ac:chgData name="James Ongo" userId="da00b8376fd27a7c" providerId="LiveId" clId="{4739AF63-D128-4AC7-8BF9-4774AA6E3E71}" dt="2026-10-30T14:56:58.497" v="69"/>
          <ac:picMkLst>
            <pc:docMk/>
            <pc:sldMk cId="0" sldId="259"/>
            <ac:picMk id="49" creationId="{569E526B-56EF-A9C6-CD4A-63F21B34965F}"/>
          </ac:picMkLst>
        </pc:picChg>
      </pc:sldChg>
      <pc:sldChg chg="addSp delSp modSp mod">
        <pc:chgData name="James Ongo" userId="da00b8376fd27a7c" providerId="LiveId" clId="{4739AF63-D128-4AC7-8BF9-4774AA6E3E71}" dt="2026-10-30T14:57:57.265" v="70"/>
        <pc:sldMkLst>
          <pc:docMk/>
          <pc:sldMk cId="0" sldId="260"/>
        </pc:sldMkLst>
        <pc:picChg chg="add del mod">
          <ac:chgData name="James Ongo" userId="da00b8376fd27a7c" providerId="LiveId" clId="{4739AF63-D128-4AC7-8BF9-4774AA6E3E71}" dt="2026-10-30T14:46:17.658" v="21" actId="34818"/>
          <ac:picMkLst>
            <pc:docMk/>
            <pc:sldMk cId="0" sldId="260"/>
            <ac:picMk id="17" creationId="{8C7D5516-603C-BFE3-5304-DAC8AC0A61AF}"/>
          </ac:picMkLst>
        </pc:picChg>
        <pc:picChg chg="add del mod">
          <ac:chgData name="James Ongo" userId="da00b8376fd27a7c" providerId="LiveId" clId="{4739AF63-D128-4AC7-8BF9-4774AA6E3E71}" dt="2026-10-30T14:46:16.405" v="14" actId="34819"/>
          <ac:picMkLst>
            <pc:docMk/>
            <pc:sldMk cId="0" sldId="260"/>
            <ac:picMk id="18" creationId="{B5C42BB8-4BC7-3EC3-3670-F1B4DB295994}"/>
          </ac:picMkLst>
        </pc:picChg>
        <pc:picChg chg="add del mod">
          <ac:chgData name="James Ongo" userId="da00b8376fd27a7c" providerId="LiveId" clId="{4739AF63-D128-4AC7-8BF9-4774AA6E3E71}" dt="2026-10-30T14:46:32.175" v="23" actId="34818"/>
          <ac:picMkLst>
            <pc:docMk/>
            <pc:sldMk cId="0" sldId="260"/>
            <ac:picMk id="19" creationId="{856DED1A-081B-9625-70B9-27AFE5C796EE}"/>
          </ac:picMkLst>
        </pc:picChg>
        <pc:picChg chg="add">
          <ac:chgData name="James Ongo" userId="da00b8376fd27a7c" providerId="LiveId" clId="{4739AF63-D128-4AC7-8BF9-4774AA6E3E71}" dt="2026-10-30T14:51:05.287" v="50" actId="22"/>
          <ac:picMkLst>
            <pc:docMk/>
            <pc:sldMk cId="0" sldId="260"/>
            <ac:picMk id="21" creationId="{1EAD68AD-0C0D-B0E8-F151-1595FF5BAA35}"/>
          </ac:picMkLst>
        </pc:picChg>
        <pc:picChg chg="add mod">
          <ac:chgData name="James Ongo" userId="da00b8376fd27a7c" providerId="LiveId" clId="{4739AF63-D128-4AC7-8BF9-4774AA6E3E71}" dt="2026-10-30T14:57:57.265" v="70"/>
          <ac:picMkLst>
            <pc:docMk/>
            <pc:sldMk cId="0" sldId="260"/>
            <ac:picMk id="24" creationId="{D8150EBC-8227-C2B6-95DF-F1EE66032C1C}"/>
          </ac:picMkLst>
        </pc:picChg>
      </pc:sldChg>
      <pc:sldChg chg="addSp delSp modSp mod modTransition modAnim">
        <pc:chgData name="James Ongo" userId="da00b8376fd27a7c" providerId="LiveId" clId="{4739AF63-D128-4AC7-8BF9-4774AA6E3E71}" dt="2026-10-30T14:59:45.092" v="74"/>
        <pc:sldMkLst>
          <pc:docMk/>
          <pc:sldMk cId="0" sldId="261"/>
        </pc:sldMkLst>
        <pc:picChg chg="add del mod">
          <ac:chgData name="James Ongo" userId="da00b8376fd27a7c" providerId="LiveId" clId="{4739AF63-D128-4AC7-8BF9-4774AA6E3E71}" dt="2026-10-30T14:46:17.658" v="21" actId="34818"/>
          <ac:picMkLst>
            <pc:docMk/>
            <pc:sldMk cId="0" sldId="261"/>
            <ac:picMk id="35" creationId="{FA2A28E1-F4DA-3BE0-7F2C-AC378F66A8C5}"/>
          </ac:picMkLst>
        </pc:picChg>
        <pc:picChg chg="add del mod">
          <ac:chgData name="James Ongo" userId="da00b8376fd27a7c" providerId="LiveId" clId="{4739AF63-D128-4AC7-8BF9-4774AA6E3E71}" dt="2026-10-30T14:46:16.405" v="14" actId="34819"/>
          <ac:picMkLst>
            <pc:docMk/>
            <pc:sldMk cId="0" sldId="261"/>
            <ac:picMk id="36" creationId="{865A896B-FF5C-B45B-74BD-A90ABA6C8FDA}"/>
          </ac:picMkLst>
        </pc:picChg>
        <pc:picChg chg="add del mod">
          <ac:chgData name="James Ongo" userId="da00b8376fd27a7c" providerId="LiveId" clId="{4739AF63-D128-4AC7-8BF9-4774AA6E3E71}" dt="2026-10-30T14:46:32.175" v="23" actId="34818"/>
          <ac:picMkLst>
            <pc:docMk/>
            <pc:sldMk cId="0" sldId="261"/>
            <ac:picMk id="37" creationId="{32307104-786E-D3D5-B7FF-EB94A572C88F}"/>
          </ac:picMkLst>
        </pc:picChg>
        <pc:picChg chg="add">
          <ac:chgData name="James Ongo" userId="da00b8376fd27a7c" providerId="LiveId" clId="{4739AF63-D128-4AC7-8BF9-4774AA6E3E71}" dt="2026-10-30T14:51:06.942" v="51" actId="22"/>
          <ac:picMkLst>
            <pc:docMk/>
            <pc:sldMk cId="0" sldId="261"/>
            <ac:picMk id="39" creationId="{C69B7CDC-6E10-F5E5-A36C-087A15BCD7EF}"/>
          </ac:picMkLst>
        </pc:picChg>
        <pc:picChg chg="add del mod">
          <ac:chgData name="James Ongo" userId="da00b8376fd27a7c" providerId="LiveId" clId="{4739AF63-D128-4AC7-8BF9-4774AA6E3E71}" dt="2026-10-30T14:58:40.695" v="73"/>
          <ac:picMkLst>
            <pc:docMk/>
            <pc:sldMk cId="0" sldId="261"/>
            <ac:picMk id="42" creationId="{CD3DE0DF-2382-EAD6-2C50-63B943AC2AE0}"/>
          </ac:picMkLst>
        </pc:picChg>
        <pc:picChg chg="add del mod ord">
          <ac:chgData name="James Ongo" userId="da00b8376fd27a7c" providerId="LiveId" clId="{4739AF63-D128-4AC7-8BF9-4774AA6E3E71}" dt="2026-10-30T14:59:45.092" v="74"/>
          <ac:picMkLst>
            <pc:docMk/>
            <pc:sldMk cId="0" sldId="261"/>
            <ac:picMk id="45" creationId="{B629BA11-D94E-D702-ECF8-34547B2E1423}"/>
          </ac:picMkLst>
        </pc:picChg>
        <pc:picChg chg="add mod">
          <ac:chgData name="James Ongo" userId="da00b8376fd27a7c" providerId="LiveId" clId="{4739AF63-D128-4AC7-8BF9-4774AA6E3E71}" dt="2026-10-30T14:59:45.092" v="74"/>
          <ac:picMkLst>
            <pc:docMk/>
            <pc:sldMk cId="0" sldId="261"/>
            <ac:picMk id="46" creationId="{98DE645D-1CD0-6BAD-EF28-A4DC66B968EA}"/>
          </ac:picMkLst>
        </pc:picChg>
      </pc:sldChg>
      <pc:sldChg chg="addSp delSp modSp mod modTransition modAnim">
        <pc:chgData name="James Ongo" userId="da00b8376fd27a7c" providerId="LiveId" clId="{4739AF63-D128-4AC7-8BF9-4774AA6E3E71}" dt="2026-10-30T15:05:09.929" v="87"/>
        <pc:sldMkLst>
          <pc:docMk/>
          <pc:sldMk cId="0" sldId="262"/>
        </pc:sldMkLst>
        <pc:picChg chg="add del mod">
          <ac:chgData name="James Ongo" userId="da00b8376fd27a7c" providerId="LiveId" clId="{4739AF63-D128-4AC7-8BF9-4774AA6E3E71}" dt="2026-10-30T14:46:17.658" v="21" actId="34818"/>
          <ac:picMkLst>
            <pc:docMk/>
            <pc:sldMk cId="0" sldId="262"/>
            <ac:picMk id="21" creationId="{C54AE8EB-FE9B-9E5E-9C6B-16EC273B0140}"/>
          </ac:picMkLst>
        </pc:picChg>
        <pc:picChg chg="add del mod">
          <ac:chgData name="James Ongo" userId="da00b8376fd27a7c" providerId="LiveId" clId="{4739AF63-D128-4AC7-8BF9-4774AA6E3E71}" dt="2026-10-30T14:46:16.405" v="14" actId="34819"/>
          <ac:picMkLst>
            <pc:docMk/>
            <pc:sldMk cId="0" sldId="262"/>
            <ac:picMk id="22" creationId="{45117D7A-4DA0-601D-8F01-869A3F0599E2}"/>
          </ac:picMkLst>
        </pc:picChg>
        <pc:picChg chg="add del mod">
          <ac:chgData name="James Ongo" userId="da00b8376fd27a7c" providerId="LiveId" clId="{4739AF63-D128-4AC7-8BF9-4774AA6E3E71}" dt="2026-10-30T14:46:32.175" v="23" actId="34818"/>
          <ac:picMkLst>
            <pc:docMk/>
            <pc:sldMk cId="0" sldId="262"/>
            <ac:picMk id="23" creationId="{045CD3F4-CFDF-A99F-7DC2-5E8CEA4DCAA5}"/>
          </ac:picMkLst>
        </pc:picChg>
        <pc:picChg chg="add">
          <ac:chgData name="James Ongo" userId="da00b8376fd27a7c" providerId="LiveId" clId="{4739AF63-D128-4AC7-8BF9-4774AA6E3E71}" dt="2026-10-30T14:51:08.320" v="52" actId="22"/>
          <ac:picMkLst>
            <pc:docMk/>
            <pc:sldMk cId="0" sldId="262"/>
            <ac:picMk id="25" creationId="{87A0A133-E22B-23B5-E87F-6138574CDBDD}"/>
          </ac:picMkLst>
        </pc:picChg>
        <pc:picChg chg="add del mod">
          <ac:chgData name="James Ongo" userId="da00b8376fd27a7c" providerId="LiveId" clId="{4739AF63-D128-4AC7-8BF9-4774AA6E3E71}" dt="2026-10-30T15:00:36.709" v="77"/>
          <ac:picMkLst>
            <pc:docMk/>
            <pc:sldMk cId="0" sldId="262"/>
            <ac:picMk id="28" creationId="{694231DE-761A-D6F9-59D4-57BFAEF5518E}"/>
          </ac:picMkLst>
        </pc:picChg>
        <pc:picChg chg="add del mod ord">
          <ac:chgData name="James Ongo" userId="da00b8376fd27a7c" providerId="LiveId" clId="{4739AF63-D128-4AC7-8BF9-4774AA6E3E71}" dt="2026-10-30T15:00:44.332" v="78"/>
          <ac:picMkLst>
            <pc:docMk/>
            <pc:sldMk cId="0" sldId="262"/>
            <ac:picMk id="31" creationId="{EDA43E8C-F75A-8796-C538-AE0BBFF32266}"/>
          </ac:picMkLst>
        </pc:picChg>
        <pc:picChg chg="add del mod">
          <ac:chgData name="James Ongo" userId="da00b8376fd27a7c" providerId="LiveId" clId="{4739AF63-D128-4AC7-8BF9-4774AA6E3E71}" dt="2026-10-30T15:00:57.478" v="80"/>
          <ac:picMkLst>
            <pc:docMk/>
            <pc:sldMk cId="0" sldId="262"/>
            <ac:picMk id="32" creationId="{457FFB5A-ADD6-8569-0FAA-C8951428FF43}"/>
          </ac:picMkLst>
        </pc:picChg>
        <pc:picChg chg="add del mod ord">
          <ac:chgData name="James Ongo" userId="da00b8376fd27a7c" providerId="LiveId" clId="{4739AF63-D128-4AC7-8BF9-4774AA6E3E71}" dt="2026-10-30T15:01:57.986" v="81"/>
          <ac:picMkLst>
            <pc:docMk/>
            <pc:sldMk cId="0" sldId="262"/>
            <ac:picMk id="35" creationId="{0DDD5F83-D086-0E8D-197B-A61F54E69DE3}"/>
          </ac:picMkLst>
        </pc:picChg>
        <pc:picChg chg="add del mod">
          <ac:chgData name="James Ongo" userId="da00b8376fd27a7c" providerId="LiveId" clId="{4739AF63-D128-4AC7-8BF9-4774AA6E3E71}" dt="2026-10-30T15:02:05.039" v="83"/>
          <ac:picMkLst>
            <pc:docMk/>
            <pc:sldMk cId="0" sldId="262"/>
            <ac:picMk id="36" creationId="{76F6751B-3283-2962-CCCC-A6DF118C8488}"/>
          </ac:picMkLst>
        </pc:picChg>
        <pc:picChg chg="add del mod ord">
          <ac:chgData name="James Ongo" userId="da00b8376fd27a7c" providerId="LiveId" clId="{4739AF63-D128-4AC7-8BF9-4774AA6E3E71}" dt="2026-10-30T15:04:05.585" v="84"/>
          <ac:picMkLst>
            <pc:docMk/>
            <pc:sldMk cId="0" sldId="262"/>
            <ac:picMk id="39" creationId="{6EA64306-874F-970D-FA48-277E47A1C5CD}"/>
          </ac:picMkLst>
        </pc:picChg>
        <pc:picChg chg="add del mod">
          <ac:chgData name="James Ongo" userId="da00b8376fd27a7c" providerId="LiveId" clId="{4739AF63-D128-4AC7-8BF9-4774AA6E3E71}" dt="2026-10-30T15:04:08.865" v="86"/>
          <ac:picMkLst>
            <pc:docMk/>
            <pc:sldMk cId="0" sldId="262"/>
            <ac:picMk id="40" creationId="{A0134374-92E4-1E31-D021-7F8D51A5F7A5}"/>
          </ac:picMkLst>
        </pc:picChg>
        <pc:picChg chg="add del mod ord">
          <ac:chgData name="James Ongo" userId="da00b8376fd27a7c" providerId="LiveId" clId="{4739AF63-D128-4AC7-8BF9-4774AA6E3E71}" dt="2026-10-30T15:05:09.929" v="87"/>
          <ac:picMkLst>
            <pc:docMk/>
            <pc:sldMk cId="0" sldId="262"/>
            <ac:picMk id="43" creationId="{08EB921B-6FC4-A879-6697-C18CE1CB2612}"/>
          </ac:picMkLst>
        </pc:picChg>
        <pc:picChg chg="add mod">
          <ac:chgData name="James Ongo" userId="da00b8376fd27a7c" providerId="LiveId" clId="{4739AF63-D128-4AC7-8BF9-4774AA6E3E71}" dt="2026-10-30T15:05:09.929" v="87"/>
          <ac:picMkLst>
            <pc:docMk/>
            <pc:sldMk cId="0" sldId="262"/>
            <ac:picMk id="44" creationId="{E262DC3A-2C95-6A18-A0A2-02189F153FD7}"/>
          </ac:picMkLst>
        </pc:picChg>
      </pc:sldChg>
      <pc:sldChg chg="addSp delSp modSp mod">
        <pc:chgData name="James Ongo" userId="da00b8376fd27a7c" providerId="LiveId" clId="{4739AF63-D128-4AC7-8BF9-4774AA6E3E71}" dt="2026-10-30T15:06:11.807" v="88"/>
        <pc:sldMkLst>
          <pc:docMk/>
          <pc:sldMk cId="0" sldId="263"/>
        </pc:sldMkLst>
        <pc:picChg chg="add del mod">
          <ac:chgData name="James Ongo" userId="da00b8376fd27a7c" providerId="LiveId" clId="{4739AF63-D128-4AC7-8BF9-4774AA6E3E71}" dt="2026-10-30T14:46:17.658" v="21" actId="34818"/>
          <ac:picMkLst>
            <pc:docMk/>
            <pc:sldMk cId="0" sldId="263"/>
            <ac:picMk id="23" creationId="{0AA6B3E4-9E34-BA0C-3E47-996FF81D99D5}"/>
          </ac:picMkLst>
        </pc:picChg>
        <pc:picChg chg="add del mod">
          <ac:chgData name="James Ongo" userId="da00b8376fd27a7c" providerId="LiveId" clId="{4739AF63-D128-4AC7-8BF9-4774AA6E3E71}" dt="2026-10-30T14:46:16.405" v="14" actId="34819"/>
          <ac:picMkLst>
            <pc:docMk/>
            <pc:sldMk cId="0" sldId="263"/>
            <ac:picMk id="24" creationId="{96F85598-6150-491E-BA78-A5B040230581}"/>
          </ac:picMkLst>
        </pc:picChg>
        <pc:picChg chg="add del mod">
          <ac:chgData name="James Ongo" userId="da00b8376fd27a7c" providerId="LiveId" clId="{4739AF63-D128-4AC7-8BF9-4774AA6E3E71}" dt="2026-10-30T14:46:32.175" v="23" actId="34818"/>
          <ac:picMkLst>
            <pc:docMk/>
            <pc:sldMk cId="0" sldId="263"/>
            <ac:picMk id="25" creationId="{CFD40CAC-6C65-34BF-644F-3164EC43F13B}"/>
          </ac:picMkLst>
        </pc:picChg>
        <pc:picChg chg="add">
          <ac:chgData name="James Ongo" userId="da00b8376fd27a7c" providerId="LiveId" clId="{4739AF63-D128-4AC7-8BF9-4774AA6E3E71}" dt="2026-10-30T14:51:09.776" v="53" actId="22"/>
          <ac:picMkLst>
            <pc:docMk/>
            <pc:sldMk cId="0" sldId="263"/>
            <ac:picMk id="27" creationId="{0F165A67-0269-DB4C-F87E-AF52909F042D}"/>
          </ac:picMkLst>
        </pc:picChg>
        <pc:picChg chg="add mod">
          <ac:chgData name="James Ongo" userId="da00b8376fd27a7c" providerId="LiveId" clId="{4739AF63-D128-4AC7-8BF9-4774AA6E3E71}" dt="2026-10-30T15:06:11.807" v="88"/>
          <ac:picMkLst>
            <pc:docMk/>
            <pc:sldMk cId="0" sldId="263"/>
            <ac:picMk id="30" creationId="{09BA7798-A6AF-D0DA-1879-2736A9FDC934}"/>
          </ac:picMkLst>
        </pc:picChg>
      </pc:sldChg>
      <pc:sldChg chg="addSp delSp modSp mod modTransition modAnim modNotesTx">
        <pc:chgData name="James Ongo" userId="da00b8376fd27a7c" providerId="LiveId" clId="{4739AF63-D128-4AC7-8BF9-4774AA6E3E71}" dt="2026-10-30T15:09:05.267" v="95"/>
        <pc:sldMkLst>
          <pc:docMk/>
          <pc:sldMk cId="0" sldId="264"/>
        </pc:sldMkLst>
        <pc:picChg chg="add del mod">
          <ac:chgData name="James Ongo" userId="da00b8376fd27a7c" providerId="LiveId" clId="{4739AF63-D128-4AC7-8BF9-4774AA6E3E71}" dt="2026-10-30T14:46:17.658" v="21" actId="34818"/>
          <ac:picMkLst>
            <pc:docMk/>
            <pc:sldMk cId="0" sldId="264"/>
            <ac:picMk id="36" creationId="{32334049-9205-2B8B-6C9E-D4F0B17775DE}"/>
          </ac:picMkLst>
        </pc:picChg>
        <pc:picChg chg="add del mod">
          <ac:chgData name="James Ongo" userId="da00b8376fd27a7c" providerId="LiveId" clId="{4739AF63-D128-4AC7-8BF9-4774AA6E3E71}" dt="2026-10-30T14:46:16.405" v="14" actId="34819"/>
          <ac:picMkLst>
            <pc:docMk/>
            <pc:sldMk cId="0" sldId="264"/>
            <ac:picMk id="37" creationId="{DD480ECB-C39B-8270-6D70-2CE778620885}"/>
          </ac:picMkLst>
        </pc:picChg>
        <pc:picChg chg="add del mod">
          <ac:chgData name="James Ongo" userId="da00b8376fd27a7c" providerId="LiveId" clId="{4739AF63-D128-4AC7-8BF9-4774AA6E3E71}" dt="2026-10-30T14:46:32.175" v="23" actId="34818"/>
          <ac:picMkLst>
            <pc:docMk/>
            <pc:sldMk cId="0" sldId="264"/>
            <ac:picMk id="38" creationId="{4A53EA50-4CB8-CD9F-42B6-6DB2E2890158}"/>
          </ac:picMkLst>
        </pc:picChg>
        <pc:picChg chg="add ord">
          <ac:chgData name="James Ongo" userId="da00b8376fd27a7c" providerId="LiveId" clId="{4739AF63-D128-4AC7-8BF9-4774AA6E3E71}" dt="2026-10-30T14:51:21.174" v="56" actId="167"/>
          <ac:picMkLst>
            <pc:docMk/>
            <pc:sldMk cId="0" sldId="264"/>
            <ac:picMk id="40" creationId="{687C9817-2439-792C-6E60-31E50E5745C1}"/>
          </ac:picMkLst>
        </pc:picChg>
        <pc:picChg chg="add del mod">
          <ac:chgData name="James Ongo" userId="da00b8376fd27a7c" providerId="LiveId" clId="{4739AF63-D128-4AC7-8BF9-4774AA6E3E71}" dt="2026-10-30T15:07:16.139" v="91"/>
          <ac:picMkLst>
            <pc:docMk/>
            <pc:sldMk cId="0" sldId="264"/>
            <ac:picMk id="43" creationId="{F09A0E67-22EC-9A3F-5680-74031C527640}"/>
          </ac:picMkLst>
        </pc:picChg>
        <pc:picChg chg="add del mod ord">
          <ac:chgData name="James Ongo" userId="da00b8376fd27a7c" providerId="LiveId" clId="{4739AF63-D128-4AC7-8BF9-4774AA6E3E71}" dt="2026-10-30T15:07:43.358" v="92"/>
          <ac:picMkLst>
            <pc:docMk/>
            <pc:sldMk cId="0" sldId="264"/>
            <ac:picMk id="46" creationId="{730DA229-1F2D-B94D-E93A-70203A3E9039}"/>
          </ac:picMkLst>
        </pc:picChg>
        <pc:picChg chg="add del mod">
          <ac:chgData name="James Ongo" userId="da00b8376fd27a7c" providerId="LiveId" clId="{4739AF63-D128-4AC7-8BF9-4774AA6E3E71}" dt="2026-10-30T15:08:02.493" v="94"/>
          <ac:picMkLst>
            <pc:docMk/>
            <pc:sldMk cId="0" sldId="264"/>
            <ac:picMk id="47" creationId="{E3501046-8BFA-73C9-E9BB-35DF8F80B180}"/>
          </ac:picMkLst>
        </pc:picChg>
        <pc:picChg chg="add del mod ord">
          <ac:chgData name="James Ongo" userId="da00b8376fd27a7c" providerId="LiveId" clId="{4739AF63-D128-4AC7-8BF9-4774AA6E3E71}" dt="2026-10-30T15:09:05.267" v="95"/>
          <ac:picMkLst>
            <pc:docMk/>
            <pc:sldMk cId="0" sldId="264"/>
            <ac:picMk id="52" creationId="{0BEA98E7-EF79-BDE2-F283-2E0B8A01CF5E}"/>
          </ac:picMkLst>
        </pc:picChg>
        <pc:picChg chg="add mod">
          <ac:chgData name="James Ongo" userId="da00b8376fd27a7c" providerId="LiveId" clId="{4739AF63-D128-4AC7-8BF9-4774AA6E3E71}" dt="2026-10-30T15:09:05.267" v="95"/>
          <ac:picMkLst>
            <pc:docMk/>
            <pc:sldMk cId="0" sldId="264"/>
            <ac:picMk id="53" creationId="{EF1FD978-51BA-F00C-164A-CA7E12762097}"/>
          </ac:picMkLst>
        </pc:picChg>
      </pc:sldChg>
    </pc:docChg>
  </pc:docChgLst>
  <pc:docChgLst>
    <pc:chgData name="James Ongo" userId="da00b8376fd27a7c" providerId="LiveId" clId="{091C640E-7640-4A42-9A5B-507A4178C190}"/>
    <pc:docChg chg="undo custSel modSld">
      <pc:chgData name="James Ongo" userId="da00b8376fd27a7c" providerId="LiveId" clId="{091C640E-7640-4A42-9A5B-507A4178C190}" dt="2026-10-31T23:02:26.485" v="69" actId="20577"/>
      <pc:docMkLst>
        <pc:docMk/>
      </pc:docMkLst>
      <pc:sldChg chg="delSp mod modTransition modAnim modNotesTx">
        <pc:chgData name="James Ongo" userId="da00b8376fd27a7c" providerId="LiveId" clId="{091C640E-7640-4A42-9A5B-507A4178C190}" dt="2026-10-31T21:51:39.439" v="46" actId="478"/>
        <pc:sldMkLst>
          <pc:docMk/>
          <pc:sldMk cId="0" sldId="256"/>
        </pc:sldMkLst>
        <pc:spChg chg="del">
          <ac:chgData name="James Ongo" userId="da00b8376fd27a7c" providerId="LiveId" clId="{091C640E-7640-4A42-9A5B-507A4178C190}" dt="2026-10-31T21:51:39.439" v="46" actId="478"/>
          <ac:spMkLst>
            <pc:docMk/>
            <pc:sldMk cId="0" sldId="256"/>
            <ac:spMk id="9" creationId="{00000000-0000-0000-0000-000000000000}"/>
          </ac:spMkLst>
        </pc:spChg>
        <pc:spChg chg="del">
          <ac:chgData name="James Ongo" userId="da00b8376fd27a7c" providerId="LiveId" clId="{091C640E-7640-4A42-9A5B-507A4178C190}" dt="2026-10-31T21:51:37.709" v="45" actId="478"/>
          <ac:spMkLst>
            <pc:docMk/>
            <pc:sldMk cId="0" sldId="256"/>
            <ac:spMk id="13" creationId="{00000000-0000-0000-0000-000000000000}"/>
          </ac:spMkLst>
        </pc:spChg>
        <pc:picChg chg="del">
          <ac:chgData name="James Ongo" userId="da00b8376fd27a7c" providerId="LiveId" clId="{091C640E-7640-4A42-9A5B-507A4178C190}" dt="2026-10-30T21:04:38.566" v="0"/>
          <ac:picMkLst>
            <pc:docMk/>
            <pc:sldMk cId="0" sldId="256"/>
            <ac:picMk id="20" creationId="{87B768C6-AC2D-3B9A-34E7-0BB94D171602}"/>
          </ac:picMkLst>
        </pc:picChg>
      </pc:sldChg>
      <pc:sldChg chg="delSp modTransition modAnim modNotesTx">
        <pc:chgData name="James Ongo" userId="da00b8376fd27a7c" providerId="LiveId" clId="{091C640E-7640-4A42-9A5B-507A4178C190}" dt="2026-10-30T22:06:09.872" v="40" actId="20577"/>
        <pc:sldMkLst>
          <pc:docMk/>
          <pc:sldMk cId="0" sldId="257"/>
        </pc:sldMkLst>
        <pc:picChg chg="del">
          <ac:chgData name="James Ongo" userId="da00b8376fd27a7c" providerId="LiveId" clId="{091C640E-7640-4A42-9A5B-507A4178C190}" dt="2026-10-30T21:04:38.566" v="0"/>
          <ac:picMkLst>
            <pc:docMk/>
            <pc:sldMk cId="0" sldId="257"/>
            <ac:picMk id="50" creationId="{A304F081-DFBE-6B89-D0B4-8D150FD66C39}"/>
          </ac:picMkLst>
        </pc:picChg>
      </pc:sldChg>
      <pc:sldChg chg="delSp modTransition modAnim modNotesTx">
        <pc:chgData name="James Ongo" userId="da00b8376fd27a7c" providerId="LiveId" clId="{091C640E-7640-4A42-9A5B-507A4178C190}" dt="2026-10-30T22:05:57.742" v="37" actId="20577"/>
        <pc:sldMkLst>
          <pc:docMk/>
          <pc:sldMk cId="0" sldId="258"/>
        </pc:sldMkLst>
        <pc:picChg chg="del">
          <ac:chgData name="James Ongo" userId="da00b8376fd27a7c" providerId="LiveId" clId="{091C640E-7640-4A42-9A5B-507A4178C190}" dt="2026-10-30T21:04:38.566" v="0"/>
          <ac:picMkLst>
            <pc:docMk/>
            <pc:sldMk cId="0" sldId="258"/>
            <ac:picMk id="39" creationId="{DCF104ED-74DF-00CF-2178-B371F11FAD91}"/>
          </ac:picMkLst>
        </pc:picChg>
      </pc:sldChg>
      <pc:sldChg chg="delSp modTransition modAnim modNotesTx">
        <pc:chgData name="James Ongo" userId="da00b8376fd27a7c" providerId="LiveId" clId="{091C640E-7640-4A42-9A5B-507A4178C190}" dt="2026-10-30T22:05:35.324" v="34" actId="20577"/>
        <pc:sldMkLst>
          <pc:docMk/>
          <pc:sldMk cId="0" sldId="259"/>
        </pc:sldMkLst>
        <pc:picChg chg="del">
          <ac:chgData name="James Ongo" userId="da00b8376fd27a7c" providerId="LiveId" clId="{091C640E-7640-4A42-9A5B-507A4178C190}" dt="2026-10-30T21:04:38.566" v="0"/>
          <ac:picMkLst>
            <pc:docMk/>
            <pc:sldMk cId="0" sldId="259"/>
            <ac:picMk id="49" creationId="{569E526B-56EF-A9C6-CD4A-63F21B34965F}"/>
          </ac:picMkLst>
        </pc:picChg>
      </pc:sldChg>
      <pc:sldChg chg="delSp modTransition modAnim modNotesTx">
        <pc:chgData name="James Ongo" userId="da00b8376fd27a7c" providerId="LiveId" clId="{091C640E-7640-4A42-9A5B-507A4178C190}" dt="2026-10-30T22:05:28.358" v="31" actId="20577"/>
        <pc:sldMkLst>
          <pc:docMk/>
          <pc:sldMk cId="0" sldId="260"/>
        </pc:sldMkLst>
        <pc:picChg chg="del">
          <ac:chgData name="James Ongo" userId="da00b8376fd27a7c" providerId="LiveId" clId="{091C640E-7640-4A42-9A5B-507A4178C190}" dt="2026-10-30T21:04:38.566" v="0"/>
          <ac:picMkLst>
            <pc:docMk/>
            <pc:sldMk cId="0" sldId="260"/>
            <ac:picMk id="24" creationId="{D8150EBC-8227-C2B6-95DF-F1EE66032C1C}"/>
          </ac:picMkLst>
        </pc:picChg>
      </pc:sldChg>
      <pc:sldChg chg="delSp modTransition modAnim modNotesTx">
        <pc:chgData name="James Ongo" userId="da00b8376fd27a7c" providerId="LiveId" clId="{091C640E-7640-4A42-9A5B-507A4178C190}" dt="2026-10-30T22:05:16.557" v="28" actId="20577"/>
        <pc:sldMkLst>
          <pc:docMk/>
          <pc:sldMk cId="0" sldId="261"/>
        </pc:sldMkLst>
        <pc:picChg chg="del">
          <ac:chgData name="James Ongo" userId="da00b8376fd27a7c" providerId="LiveId" clId="{091C640E-7640-4A42-9A5B-507A4178C190}" dt="2026-10-30T21:04:38.566" v="0"/>
          <ac:picMkLst>
            <pc:docMk/>
            <pc:sldMk cId="0" sldId="261"/>
            <ac:picMk id="46" creationId="{98DE645D-1CD0-6BAD-EF28-A4DC66B968EA}"/>
          </ac:picMkLst>
        </pc:picChg>
      </pc:sldChg>
      <pc:sldChg chg="delSp modTransition modAnim modNotesTx">
        <pc:chgData name="James Ongo" userId="da00b8376fd27a7c" providerId="LiveId" clId="{091C640E-7640-4A42-9A5B-507A4178C190}" dt="2026-10-30T22:04:51.479" v="18" actId="20577"/>
        <pc:sldMkLst>
          <pc:docMk/>
          <pc:sldMk cId="0" sldId="262"/>
        </pc:sldMkLst>
        <pc:picChg chg="del">
          <ac:chgData name="James Ongo" userId="da00b8376fd27a7c" providerId="LiveId" clId="{091C640E-7640-4A42-9A5B-507A4178C190}" dt="2026-10-30T21:04:38.566" v="0"/>
          <ac:picMkLst>
            <pc:docMk/>
            <pc:sldMk cId="0" sldId="262"/>
            <ac:picMk id="44" creationId="{E262DC3A-2C95-6A18-A0A2-02189F153FD7}"/>
          </ac:picMkLst>
        </pc:picChg>
      </pc:sldChg>
      <pc:sldChg chg="delSp modTransition modAnim modNotesTx">
        <pc:chgData name="James Ongo" userId="da00b8376fd27a7c" providerId="LiveId" clId="{091C640E-7640-4A42-9A5B-507A4178C190}" dt="2026-10-31T23:02:00.949" v="59" actId="20577"/>
        <pc:sldMkLst>
          <pc:docMk/>
          <pc:sldMk cId="0" sldId="263"/>
        </pc:sldMkLst>
        <pc:picChg chg="del">
          <ac:chgData name="James Ongo" userId="da00b8376fd27a7c" providerId="LiveId" clId="{091C640E-7640-4A42-9A5B-507A4178C190}" dt="2026-10-30T21:04:38.566" v="0"/>
          <ac:picMkLst>
            <pc:docMk/>
            <pc:sldMk cId="0" sldId="263"/>
            <ac:picMk id="30" creationId="{09BA7798-A6AF-D0DA-1879-2736A9FDC934}"/>
          </ac:picMkLst>
        </pc:picChg>
      </pc:sldChg>
      <pc:sldChg chg="delSp modTransition modAnim modNotesTx">
        <pc:chgData name="James Ongo" userId="da00b8376fd27a7c" providerId="LiveId" clId="{091C640E-7640-4A42-9A5B-507A4178C190}" dt="2026-10-31T23:02:26.485" v="69" actId="20577"/>
        <pc:sldMkLst>
          <pc:docMk/>
          <pc:sldMk cId="0" sldId="264"/>
        </pc:sldMkLst>
        <pc:picChg chg="del">
          <ac:chgData name="James Ongo" userId="da00b8376fd27a7c" providerId="LiveId" clId="{091C640E-7640-4A42-9A5B-507A4178C190}" dt="2026-10-30T21:04:38.566" v="0"/>
          <ac:picMkLst>
            <pc:docMk/>
            <pc:sldMk cId="0" sldId="264"/>
            <ac:picMk id="53" creationId="{EF1FD978-51BA-F00C-164A-CA7E1276209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0722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Good day, everyone. We are Group 3, and today we will present our analysis titled </a:t>
            </a:r>
            <a:r>
              <a:rPr lang="en-PH" b="1" dirty="0"/>
              <a:t>"Turning Customer Data Into Business Insights"</a:t>
            </a:r>
            <a:r>
              <a:rPr lang="en-PH" dirty="0"/>
              <a:t> for </a:t>
            </a:r>
            <a:r>
              <a:rPr lang="en-PH" dirty="0" err="1"/>
              <a:t>FinMark</a:t>
            </a:r>
            <a:r>
              <a:rPr lang="en-PH" dirty="0"/>
              <a:t> Corporation.</a:t>
            </a:r>
          </a:p>
          <a:p>
            <a:endParaRPr lang="en-PH" dirty="0"/>
          </a:p>
          <a:p>
            <a:r>
              <a:rPr lang="en-PH" dirty="0"/>
              <a:t>Our study focuses on two business concerns: understanding market trends and understanding customer behavior. We examined </a:t>
            </a:r>
            <a:r>
              <a:rPr lang="en-PH" dirty="0" err="1"/>
              <a:t>FinMark's</a:t>
            </a:r>
            <a:r>
              <a:rPr lang="en-PH" dirty="0"/>
              <a:t> available records to identify meaningful patterns and determine what those findings could contribute to business decisions.</a:t>
            </a:r>
          </a:p>
          <a:p>
            <a:endParaRPr lang="en-PH" dirty="0"/>
          </a:p>
          <a:p>
            <a:r>
              <a:rPr lang="en-PH" dirty="0"/>
              <a:t>We will discuss our data, how we prepared it, our main findings, and two possible machine learning solutions for future development.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We used three datasets: customer profiles, purchase transactions, and social media interactions.</a:t>
            </a:r>
          </a:p>
          <a:p>
            <a:endParaRPr lang="en-PH" dirty="0"/>
          </a:p>
          <a:p>
            <a:r>
              <a:rPr lang="en-PH" dirty="0"/>
              <a:t>After cleaning, these contained 2,378 customer profiles, 2,420 purchase records, and 2,411 social media interactions.</a:t>
            </a:r>
          </a:p>
          <a:p>
            <a:endParaRPr lang="en-PH" dirty="0"/>
          </a:p>
          <a:p>
            <a:r>
              <a:rPr lang="en-PH" dirty="0"/>
              <a:t>However, the files cover different periods and do not always include the same customers. We identified 1,306 customers with both profiles and purchases. For purchases and social media during the same year, there were 564 matching customers. Only 457 had records across all three sources during that year.</a:t>
            </a:r>
          </a:p>
          <a:p>
            <a:endParaRPr lang="en-PH" dirty="0"/>
          </a:p>
          <a:p>
            <a:r>
              <a:rPr lang="en-PH" dirty="0"/>
              <a:t>This is important because each comparison must use the customers and time period relevant to that question. Before making those comparisons, we checked the quality of the records.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Before our analysis, we checked the records for missing information, duplicates, and inconsistencies.</a:t>
            </a:r>
          </a:p>
          <a:p>
            <a:endParaRPr lang="en-PH" dirty="0"/>
          </a:p>
          <a:p>
            <a:r>
              <a:rPr lang="en-PH" dirty="0"/>
              <a:t>We kept the original datasets, corrected only issues we could verify, and checked the cleaned results again. Even after cleaning, we identified some concerns.</a:t>
            </a:r>
          </a:p>
          <a:p>
            <a:endParaRPr lang="en-PH" dirty="0"/>
          </a:p>
          <a:p>
            <a:r>
              <a:rPr lang="en-PH" dirty="0"/>
              <a:t>For example, 54 purchases had a recorded amount of zero. Both the purchase and social media files contained 336 customer IDs that did not match the profiles. We also identified 420 purchases dated before the recorded signup date.</a:t>
            </a:r>
          </a:p>
          <a:p>
            <a:endParaRPr lang="en-PH" dirty="0"/>
          </a:p>
          <a:p>
            <a:r>
              <a:rPr lang="en-PH" dirty="0"/>
              <a:t>Rather than guessing what these records meant, we documented them as limitations. This helped us avoid conclusions the data could not support. With these limitations identified, we moved to the analysis.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After preparing the data, we organized our analysis around </a:t>
            </a:r>
            <a:r>
              <a:rPr lang="en-PH" dirty="0" err="1"/>
              <a:t>FinMark's</a:t>
            </a:r>
            <a:r>
              <a:rPr lang="en-PH" dirty="0"/>
              <a:t> business questions.</a:t>
            </a:r>
          </a:p>
          <a:p>
            <a:endParaRPr lang="en-PH" dirty="0"/>
          </a:p>
          <a:p>
            <a:r>
              <a:rPr lang="en-PH" dirty="0"/>
              <a:t>We examined when purchases occurred, which products were purchased, how customers differed in their buying activity, and whether demographic characteristics or social media activity were related to purchases.</a:t>
            </a:r>
          </a:p>
          <a:p>
            <a:endParaRPr lang="en-PH" dirty="0"/>
          </a:p>
          <a:p>
            <a:r>
              <a:rPr lang="en-PH" dirty="0"/>
              <a:t>One important consideration was the difference between transactions and customers. A person may buy several times, but still represents only one customer when comparing customer groups.</a:t>
            </a:r>
          </a:p>
          <a:p>
            <a:endParaRPr lang="en-PH" dirty="0"/>
          </a:p>
          <a:p>
            <a:r>
              <a:rPr lang="en-PH" dirty="0"/>
              <a:t>With this approach, we first examined overall market activity before moving to individual purchasing behavior.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Our first finding concerns purchasing activity over time.</a:t>
            </a:r>
          </a:p>
          <a:p>
            <a:endParaRPr lang="en-PH" dirty="0"/>
          </a:p>
          <a:p>
            <a:r>
              <a:rPr lang="en-PH" dirty="0"/>
              <a:t>From July 2022 to June 2024, monthly purchases ranged from 82 to 121. Although the numbers changed, two years of records are not enough to confirm a recurring seasonal pattern or explain the causes.</a:t>
            </a:r>
          </a:p>
          <a:p>
            <a:endParaRPr lang="en-PH" dirty="0"/>
          </a:p>
          <a:p>
            <a:r>
              <a:rPr lang="en-PH" dirty="0"/>
              <a:t>We also examined the five product categories. Their shares were close to one another, with each accounting for roughly one-fifth of purchases. No category clearly dominated.</a:t>
            </a:r>
          </a:p>
          <a:p>
            <a:endParaRPr lang="en-PH" dirty="0"/>
          </a:p>
          <a:p>
            <a:r>
              <a:rPr lang="en-PH" dirty="0"/>
              <a:t>For </a:t>
            </a:r>
            <a:r>
              <a:rPr lang="en-PH" dirty="0" err="1"/>
              <a:t>FinMark</a:t>
            </a:r>
            <a:r>
              <a:rPr lang="en-PH" dirty="0"/>
              <a:t>, this supports monitoring overall activity and category performance rather than assuming one category will always lead. We then looked beyond total purchases to understand individual buyers.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We examined the recorded buying habits of 1,642 customers.</a:t>
            </a:r>
          </a:p>
          <a:p>
            <a:endParaRPr lang="en-PH" dirty="0"/>
          </a:p>
          <a:p>
            <a:r>
              <a:rPr lang="en-PH" dirty="0"/>
              <a:t>We found that 64.6 percent purchased only once during the two-year period. Customers also differed in total recorded spending. The middle amount was about 672 per buyer, while the average was about 730. These amounts have no confirmed currency designation.</a:t>
            </a:r>
          </a:p>
          <a:p>
            <a:endParaRPr lang="en-PH" dirty="0"/>
          </a:p>
          <a:p>
            <a:r>
              <a:rPr lang="en-PH" dirty="0"/>
              <a:t>In addition, 69.6 percent purchased from only one product category.</a:t>
            </a:r>
          </a:p>
          <a:p>
            <a:r>
              <a:rPr lang="en-PH" dirty="0"/>
              <a:t>These results describe the customers' recorded activity, not their lifetime habits. </a:t>
            </a:r>
          </a:p>
          <a:p>
            <a:r>
              <a:rPr lang="en-PH" dirty="0"/>
              <a:t>They suggest that grouping customers by purchase frequency, spending, and category choices may be worth investigating. However, they do not prove that meaningful customer groups already exist. We also checked whether other customer information was related to buying.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We also examined whether demographic information and social media activity were related to purchasing.</a:t>
            </a:r>
          </a:p>
          <a:p>
            <a:endParaRPr lang="en-PH" dirty="0"/>
          </a:p>
          <a:p>
            <a:r>
              <a:rPr lang="en-PH" dirty="0"/>
              <a:t>For Home and Garden, about 30 percent of women and 23 percent of men in the eligible group had made a purchase. Our checks identified a difference, but its overall strength was small. This is not enough to recommend targeting customers based on gender alone.</a:t>
            </a:r>
          </a:p>
          <a:p>
            <a:endParaRPr lang="en-PH" dirty="0"/>
          </a:p>
          <a:p>
            <a:r>
              <a:rPr lang="en-PH" dirty="0"/>
              <a:t>We also compared social activity and spending among 564 customers during the same year. We found no strong relationship between the two.</a:t>
            </a:r>
          </a:p>
          <a:p>
            <a:endParaRPr lang="en-PH" dirty="0"/>
          </a:p>
          <a:p>
            <a:r>
              <a:rPr lang="en-PH" dirty="0"/>
              <a:t>These findings suggest that actual buying patterns deserve more attention than assumptions based only on personal characteristics or online activity. We then considered what </a:t>
            </a:r>
            <a:r>
              <a:rPr lang="en-PH" dirty="0" err="1"/>
              <a:t>FinMark</a:t>
            </a:r>
            <a:r>
              <a:rPr lang="en-PH" dirty="0"/>
              <a:t> could do with these results.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Based on our findings, </a:t>
            </a:r>
            <a:r>
              <a:rPr lang="en-PH" dirty="0" err="1"/>
              <a:t>FinMark</a:t>
            </a:r>
            <a:r>
              <a:rPr lang="en-PH" dirty="0"/>
              <a:t> can already take several practical steps without immediately developing a machine learning system.</a:t>
            </a:r>
          </a:p>
          <a:p>
            <a:endParaRPr lang="en-PH" dirty="0"/>
          </a:p>
          <a:p>
            <a:r>
              <a:rPr lang="en-PH" dirty="0"/>
              <a:t>First, the company can monitor monthly purchases and the total amounts recorded. </a:t>
            </a:r>
          </a:p>
          <a:p>
            <a:r>
              <a:rPr lang="en-PH" dirty="0"/>
              <a:t>Second, it can examine customer purchasing habits and compare product categories before making marketing or inventory decisions.</a:t>
            </a:r>
          </a:p>
          <a:p>
            <a:r>
              <a:rPr lang="en-PH" dirty="0"/>
              <a:t>Third, </a:t>
            </a:r>
            <a:r>
              <a:rPr lang="en-PH" dirty="0" err="1"/>
              <a:t>FinMark</a:t>
            </a:r>
            <a:r>
              <a:rPr lang="en-PH" dirty="0"/>
              <a:t> needs to improve the reliability of its records, particularly the transactions with zero amounts and the customer information that does not match.</a:t>
            </a:r>
          </a:p>
          <a:p>
            <a:endParaRPr lang="en-PH" dirty="0"/>
          </a:p>
          <a:p>
            <a:r>
              <a:rPr lang="en-PH" dirty="0"/>
              <a:t>These recommendations are consistent with what we established in Milestone 2.</a:t>
            </a:r>
          </a:p>
          <a:p>
            <a:endParaRPr lang="en-PH" dirty="0"/>
          </a:p>
          <a:p>
            <a:r>
              <a:rPr lang="en-PH" dirty="0"/>
              <a:t>We also tested two simple ways of estimating monthly purchases. The three-month average performed better in our limited test, but it still produced errors.</a:t>
            </a:r>
          </a:p>
          <a:p>
            <a:endParaRPr lang="en-PH" dirty="0"/>
          </a:p>
          <a:p>
            <a:r>
              <a:rPr lang="en-PH" dirty="0"/>
              <a:t>These findings provide a starting point for the next stage of our project.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Building on our earlier analysis, we identified two possible machine learning approaches that </a:t>
            </a:r>
            <a:r>
              <a:rPr lang="en-PH" dirty="0" err="1"/>
              <a:t>FinMark</a:t>
            </a:r>
            <a:r>
              <a:rPr lang="en-PH" dirty="0"/>
              <a:t> could investigate in the future.</a:t>
            </a:r>
          </a:p>
          <a:p>
            <a:endParaRPr lang="en-PH" dirty="0"/>
          </a:p>
          <a:p>
            <a:r>
              <a:rPr lang="en-PH" dirty="0"/>
              <a:t>The first is Time-Series Forecasting. This follows from our findings on monthly purchasing activity and the simple forecasting methods we evaluated in Milestone 2. A future model could be tested to determine whether it produces more accurate estimates.</a:t>
            </a:r>
          </a:p>
          <a:p>
            <a:endParaRPr lang="en-PH" dirty="0"/>
          </a:p>
          <a:p>
            <a:r>
              <a:rPr lang="en-PH" dirty="0"/>
              <a:t>The second is K-Means Clustering. We considered this after extending our analysis to individual purchasing habits. We found differences in how frequently customers purchase, how much they spend, and which categories they choose. K-Means could help us investigate whether these patterns form useful customer groups.</a:t>
            </a:r>
          </a:p>
          <a:p>
            <a:endParaRPr lang="en-PH" dirty="0"/>
          </a:p>
          <a:p>
            <a:r>
              <a:rPr lang="en-PH" dirty="0"/>
              <a:t>However, neither approach has been trained or validated. We are recommending further investigation, not immediate implementation.</a:t>
            </a:r>
          </a:p>
          <a:p>
            <a:endParaRPr lang="en-PH" dirty="0"/>
          </a:p>
          <a:p>
            <a:r>
              <a:rPr lang="en-PH" dirty="0"/>
              <a:t>To conclude, our project progressed from understanding the available data, to identifying useful patterns, and finally to exploring how those findings could support future machine learning solutions.</a:t>
            </a:r>
          </a:p>
          <a:p>
            <a:endParaRPr lang="en-PH" dirty="0"/>
          </a:p>
          <a:p>
            <a:r>
              <a:rPr lang="en-PH" dirty="0"/>
              <a:t>Our main takeaway is that reliable data and meaningful analysis must come first before </a:t>
            </a:r>
            <a:r>
              <a:rPr lang="en-PH" dirty="0" err="1"/>
              <a:t>FinMark</a:t>
            </a:r>
            <a:r>
              <a:rPr lang="en-PH" dirty="0"/>
              <a:t> can confidently use machine learning to support business decisions.</a:t>
            </a:r>
          </a:p>
          <a:p>
            <a:endParaRPr lang="en-PH" dirty="0"/>
          </a:p>
          <a:p>
            <a:r>
              <a:rPr lang="en-PH" dirty="0"/>
              <a:t>That concludes our presentation. </a:t>
            </a:r>
            <a:r>
              <a:rPr lang="en-PH"/>
              <a:t>Thank you!</a:t>
            </a:r>
            <a:endParaRPr lang="en-PH"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microsoft.com/office/2007/relationships/hdphoto" Target="../media/hdphoto1.wdp"/><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D3557"/>
          </a:solidFill>
          <a:ln w="12700">
            <a:solidFill>
              <a:srgbClr val="1D3557"/>
            </a:solidFill>
            <a:prstDash val="solid"/>
          </a:ln>
        </p:spPr>
        <p:txBody>
          <a:bodyPr/>
          <a:lstStyle/>
          <a:p>
            <a:endParaRPr lang="en-US"/>
          </a:p>
        </p:txBody>
      </p:sp>
      <p:sp>
        <p:nvSpPr>
          <p:cNvPr id="3" name="Shape 1"/>
          <p:cNvSpPr/>
          <p:nvPr/>
        </p:nvSpPr>
        <p:spPr>
          <a:xfrm>
            <a:off x="566928" y="457200"/>
            <a:ext cx="1143000" cy="64008"/>
          </a:xfrm>
          <a:prstGeom prst="rect">
            <a:avLst/>
          </a:prstGeom>
          <a:solidFill>
            <a:srgbClr val="0F766E"/>
          </a:solidFill>
          <a:ln w="12700">
            <a:solidFill>
              <a:srgbClr val="0F766E"/>
            </a:solidFill>
            <a:prstDash val="solid"/>
          </a:ln>
        </p:spPr>
        <p:txBody>
          <a:bodyPr/>
          <a:lstStyle/>
          <a:p>
            <a:endParaRPr lang="en-US"/>
          </a:p>
        </p:txBody>
      </p:sp>
      <p:sp>
        <p:nvSpPr>
          <p:cNvPr id="4" name="Text 2"/>
          <p:cNvSpPr/>
          <p:nvPr/>
        </p:nvSpPr>
        <p:spPr>
          <a:xfrm>
            <a:off x="566928" y="640080"/>
            <a:ext cx="8229600" cy="274320"/>
          </a:xfrm>
          <a:prstGeom prst="rect">
            <a:avLst/>
          </a:prstGeom>
          <a:noFill/>
          <a:ln/>
        </p:spPr>
        <p:txBody>
          <a:bodyPr wrap="square" lIns="0" tIns="0" rIns="0" bIns="0" rtlCol="0" anchor="t"/>
          <a:lstStyle/>
          <a:p>
            <a:pPr marL="0" indent="0">
              <a:buNone/>
            </a:pPr>
            <a:r>
              <a:rPr lang="en-US" sz="1200" b="1" dirty="0">
                <a:solidFill>
                  <a:srgbClr val="0F766E"/>
                </a:solidFill>
                <a:latin typeface="Segoe UI" pitchFamily="34" charset="0"/>
                <a:ea typeface="Segoe UI" pitchFamily="34" charset="-122"/>
                <a:cs typeface="Segoe UI" pitchFamily="34" charset="-120"/>
              </a:rPr>
              <a:t>FINMARK CORPORATION  |  TERMINAL ASSESSMENT</a:t>
            </a:r>
            <a:endParaRPr lang="en-US" sz="1200" dirty="0"/>
          </a:p>
        </p:txBody>
      </p:sp>
      <p:sp>
        <p:nvSpPr>
          <p:cNvPr id="5" name="Text 3"/>
          <p:cNvSpPr/>
          <p:nvPr/>
        </p:nvSpPr>
        <p:spPr>
          <a:xfrm>
            <a:off x="566928" y="1325880"/>
            <a:ext cx="6583680" cy="731520"/>
          </a:xfrm>
          <a:prstGeom prst="rect">
            <a:avLst/>
          </a:prstGeom>
          <a:noFill/>
          <a:ln/>
        </p:spPr>
        <p:txBody>
          <a:bodyPr wrap="square" lIns="0" tIns="0" rIns="0" bIns="0" rtlCol="0" anchor="t"/>
          <a:lstStyle/>
          <a:p>
            <a:pPr marL="0" indent="0">
              <a:buNone/>
            </a:pPr>
            <a:r>
              <a:rPr lang="en-US" sz="4400" b="1" dirty="0">
                <a:solidFill>
                  <a:srgbClr val="1D3557"/>
                </a:solidFill>
                <a:latin typeface="Segoe UI" pitchFamily="34" charset="0"/>
                <a:ea typeface="Segoe UI" pitchFamily="34" charset="-122"/>
                <a:cs typeface="Segoe UI" pitchFamily="34" charset="-120"/>
              </a:rPr>
              <a:t>FinMark</a:t>
            </a:r>
            <a:endParaRPr lang="en-US" sz="4400" dirty="0"/>
          </a:p>
        </p:txBody>
      </p:sp>
      <p:sp>
        <p:nvSpPr>
          <p:cNvPr id="6" name="Text 4"/>
          <p:cNvSpPr/>
          <p:nvPr/>
        </p:nvSpPr>
        <p:spPr>
          <a:xfrm>
            <a:off x="566928" y="2103120"/>
            <a:ext cx="6400800" cy="1463040"/>
          </a:xfrm>
          <a:prstGeom prst="rect">
            <a:avLst/>
          </a:prstGeom>
          <a:noFill/>
          <a:ln/>
        </p:spPr>
        <p:txBody>
          <a:bodyPr wrap="square" lIns="0" tIns="0" rIns="0" bIns="0" rtlCol="0" anchor="t"/>
          <a:lstStyle/>
          <a:p>
            <a:pPr marL="0" indent="0">
              <a:buNone/>
            </a:pPr>
            <a:r>
              <a:rPr lang="en-US" sz="3600" b="1" dirty="0">
                <a:solidFill>
                  <a:srgbClr val="1D3557"/>
                </a:solidFill>
                <a:latin typeface="Segoe UI" pitchFamily="34" charset="0"/>
                <a:ea typeface="Segoe UI" pitchFamily="34" charset="-122"/>
                <a:cs typeface="Segoe UI" pitchFamily="34" charset="-120"/>
              </a:rPr>
              <a:t>Turning Customer Data Into Business Insights</a:t>
            </a:r>
            <a:endParaRPr lang="en-US" sz="3600" dirty="0"/>
          </a:p>
        </p:txBody>
      </p:sp>
      <p:sp>
        <p:nvSpPr>
          <p:cNvPr id="7" name="Text 5"/>
          <p:cNvSpPr/>
          <p:nvPr/>
        </p:nvSpPr>
        <p:spPr>
          <a:xfrm>
            <a:off x="566928" y="3749040"/>
            <a:ext cx="6035040" cy="457200"/>
          </a:xfrm>
          <a:prstGeom prst="rect">
            <a:avLst/>
          </a:prstGeom>
          <a:noFill/>
          <a:ln/>
        </p:spPr>
        <p:txBody>
          <a:bodyPr wrap="square" lIns="0" tIns="0" rIns="0" bIns="0" rtlCol="0" anchor="t"/>
          <a:lstStyle/>
          <a:p>
            <a:pPr marL="0" indent="0">
              <a:buNone/>
            </a:pPr>
            <a:r>
              <a:rPr lang="en-US" sz="1800" dirty="0">
                <a:solidFill>
                  <a:srgbClr val="475569"/>
                </a:solidFill>
                <a:latin typeface="Segoe UI" pitchFamily="34" charset="0"/>
                <a:ea typeface="Segoe UI" pitchFamily="34" charset="-122"/>
                <a:cs typeface="Segoe UI" pitchFamily="34" charset="-120"/>
              </a:rPr>
              <a:t>From data challenges to a proposed machine learning solution.</a:t>
            </a:r>
            <a:endParaRPr lang="en-US" sz="1800" dirty="0"/>
          </a:p>
        </p:txBody>
      </p:sp>
      <p:sp>
        <p:nvSpPr>
          <p:cNvPr id="8" name="Shape 6"/>
          <p:cNvSpPr/>
          <p:nvPr/>
        </p:nvSpPr>
        <p:spPr>
          <a:xfrm>
            <a:off x="566928" y="5029200"/>
            <a:ext cx="5760720" cy="0"/>
          </a:xfrm>
          <a:prstGeom prst="line">
            <a:avLst/>
          </a:prstGeom>
          <a:noFill/>
          <a:ln w="12700">
            <a:solidFill>
              <a:srgbClr val="E2E8F0"/>
            </a:solidFill>
            <a:prstDash val="solid"/>
          </a:ln>
        </p:spPr>
        <p:txBody>
          <a:bodyPr/>
          <a:lstStyle/>
          <a:p>
            <a:endParaRPr lang="en-US"/>
          </a:p>
        </p:txBody>
      </p:sp>
      <p:pic>
        <p:nvPicPr>
          <p:cNvPr id="10" name="Image 0" descr="C:\Users\ongoj\OneDrive\Documents\+MachineLearning\MFML\artifacts\finmark_visual_first_refinement\baseline\media\s1_Picture_25.png"/>
          <p:cNvPicPr>
            <a:picLocks noChangeAspect="1"/>
          </p:cNvPicPr>
          <p:nvPr/>
        </p:nvPicPr>
        <p:blipFill>
          <a:blip r:embed="rId3">
            <a:alphaModFix amt="65000"/>
            <a:duotone>
              <a:prstClr val="black"/>
              <a:schemeClr val="accent1">
                <a:tint val="45000"/>
                <a:satMod val="400000"/>
              </a:schemeClr>
            </a:duotone>
            <a:extLst>
              <a:ext uri="{BEBA8EAE-BF5A-486C-A8C5-ECC9F3942E4B}">
                <a14:imgProps xmlns:a14="http://schemas.microsoft.com/office/drawing/2010/main">
                  <a14:imgLayer r:embed="rId4">
                    <a14:imgEffect>
                      <a14:artisticCement/>
                    </a14:imgEffect>
                  </a14:imgLayer>
                </a14:imgProps>
              </a:ext>
            </a:extLst>
          </a:blip>
          <a:stretch>
            <a:fillRect/>
          </a:stretch>
        </p:blipFill>
        <p:spPr>
          <a:xfrm>
            <a:off x="5870449" y="384050"/>
            <a:ext cx="6291070" cy="6291070"/>
          </a:xfrm>
          <a:prstGeom prst="rect">
            <a:avLst/>
          </a:prstGeom>
          <a:scene3d>
            <a:camera prst="perspectiveContrastingLeftFacing"/>
            <a:lightRig rig="threePt" dir="t"/>
          </a:scene3d>
        </p:spPr>
      </p:pic>
      <p:sp>
        <p:nvSpPr>
          <p:cNvPr id="11" name="Text 8"/>
          <p:cNvSpPr/>
          <p:nvPr/>
        </p:nvSpPr>
        <p:spPr>
          <a:xfrm>
            <a:off x="566928" y="6446520"/>
            <a:ext cx="5486400" cy="22860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MO-IT162  |  SECTION A3101  |  TEAM 3</a:t>
            </a:r>
            <a:endParaRPr lang="en-US" sz="1000" dirty="0"/>
          </a:p>
        </p:txBody>
      </p:sp>
      <p:sp>
        <p:nvSpPr>
          <p:cNvPr id="12" name="Text 9"/>
          <p:cNvSpPr/>
          <p:nvPr/>
        </p:nvSpPr>
        <p:spPr>
          <a:xfrm>
            <a:off x="10881360" y="6446520"/>
            <a:ext cx="749808"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01 / 09</a:t>
            </a:r>
            <a:endParaRPr lang="en-US" sz="1000" dirty="0"/>
          </a:p>
        </p:txBody>
      </p:sp>
      <p:sp>
        <p:nvSpPr>
          <p:cNvPr id="15" name="Text 8"/>
          <p:cNvSpPr/>
          <p:nvPr/>
        </p:nvSpPr>
        <p:spPr>
          <a:xfrm>
            <a:off x="566928" y="6446520"/>
            <a:ext cx="5486400" cy="22860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MO-IT162  |  SECTION A3101  |  TEAM 3</a:t>
            </a:r>
            <a:endParaRPr lang="en-US" sz="1000" dirty="0"/>
          </a:p>
        </p:txBody>
      </p:sp>
      <p:sp>
        <p:nvSpPr>
          <p:cNvPr id="16" name="Text 9"/>
          <p:cNvSpPr/>
          <p:nvPr/>
        </p:nvSpPr>
        <p:spPr>
          <a:xfrm>
            <a:off x="10881360" y="6446520"/>
            <a:ext cx="749808"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01 / 09</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144000" cy="274320"/>
          </a:xfrm>
          <a:prstGeom prst="rect">
            <a:avLst/>
          </a:prstGeom>
          <a:noFill/>
          <a:ln/>
        </p:spPr>
        <p:txBody>
          <a:bodyPr wrap="square" lIns="0" tIns="0" rIns="0" bIns="0" rtlCol="0" anchor="t"/>
          <a:lstStyle/>
          <a:p>
            <a:pPr marL="0" indent="0">
              <a:buNone/>
            </a:pPr>
            <a:r>
              <a:rPr lang="en-US" sz="1200" b="1" kern="0" spc="100" dirty="0">
                <a:solidFill>
                  <a:srgbClr val="0F766E"/>
                </a:solidFill>
                <a:latin typeface="Segoe UI" pitchFamily="34" charset="0"/>
                <a:ea typeface="Segoe UI" pitchFamily="34" charset="-122"/>
                <a:cs typeface="Segoe UI" pitchFamily="34" charset="-120"/>
              </a:rPr>
              <a:t>01  DATA COLLECTION</a:t>
            </a:r>
            <a:endParaRPr lang="en-US" sz="1200" dirty="0"/>
          </a:p>
        </p:txBody>
      </p:sp>
      <p:sp>
        <p:nvSpPr>
          <p:cNvPr id="3" name="Text 1"/>
          <p:cNvSpPr/>
          <p:nvPr/>
        </p:nvSpPr>
        <p:spPr>
          <a:xfrm>
            <a:off x="566928" y="713232"/>
            <a:ext cx="11064240" cy="640080"/>
          </a:xfrm>
          <a:prstGeom prst="rect">
            <a:avLst/>
          </a:prstGeom>
          <a:noFill/>
          <a:ln/>
        </p:spPr>
        <p:txBody>
          <a:bodyPr wrap="square" lIns="0" tIns="0" rIns="0" bIns="0" rtlCol="0" anchor="t"/>
          <a:lstStyle/>
          <a:p>
            <a:pPr marL="0" indent="0">
              <a:buNone/>
            </a:pPr>
            <a:r>
              <a:rPr lang="en-US" sz="2800" b="1" dirty="0">
                <a:solidFill>
                  <a:srgbClr val="1D3557"/>
                </a:solidFill>
                <a:latin typeface="Segoe UI" pitchFamily="34" charset="0"/>
                <a:ea typeface="Segoe UI" pitchFamily="34" charset="-122"/>
                <a:cs typeface="Segoe UI" pitchFamily="34" charset="-120"/>
              </a:rPr>
              <a:t>Three sources, three different groups of customers</a:t>
            </a:r>
            <a:endParaRPr lang="en-US" sz="2800" dirty="0"/>
          </a:p>
        </p:txBody>
      </p:sp>
      <p:sp>
        <p:nvSpPr>
          <p:cNvPr id="4" name="Shape 2"/>
          <p:cNvSpPr/>
          <p:nvPr/>
        </p:nvSpPr>
        <p:spPr>
          <a:xfrm>
            <a:off x="566928" y="1691640"/>
            <a:ext cx="3575304" cy="1874520"/>
          </a:xfrm>
          <a:prstGeom prst="rect">
            <a:avLst/>
          </a:prstGeom>
          <a:solidFill>
            <a:srgbClr val="FFFFFF"/>
          </a:solidFill>
          <a:ln w="12700">
            <a:solidFill>
              <a:srgbClr val="E2E8F0"/>
            </a:solidFill>
            <a:prstDash val="solid"/>
          </a:ln>
        </p:spPr>
        <p:txBody>
          <a:bodyPr/>
          <a:lstStyle/>
          <a:p>
            <a:endParaRPr lang="en-US"/>
          </a:p>
        </p:txBody>
      </p:sp>
      <p:sp>
        <p:nvSpPr>
          <p:cNvPr id="5" name="Shape 3"/>
          <p:cNvSpPr/>
          <p:nvPr/>
        </p:nvSpPr>
        <p:spPr>
          <a:xfrm>
            <a:off x="566928" y="1691640"/>
            <a:ext cx="3575304" cy="54864"/>
          </a:xfrm>
          <a:prstGeom prst="rect">
            <a:avLst/>
          </a:prstGeom>
          <a:solidFill>
            <a:srgbClr val="1D3557"/>
          </a:solidFill>
          <a:ln w="12700">
            <a:solidFill>
              <a:srgbClr val="1D3557"/>
            </a:solidFill>
            <a:prstDash val="solid"/>
          </a:ln>
        </p:spPr>
        <p:txBody>
          <a:bodyPr/>
          <a:lstStyle/>
          <a:p>
            <a:endParaRPr lang="en-US"/>
          </a:p>
        </p:txBody>
      </p:sp>
      <p:sp>
        <p:nvSpPr>
          <p:cNvPr id="6" name="Text 4"/>
          <p:cNvSpPr/>
          <p:nvPr/>
        </p:nvSpPr>
        <p:spPr>
          <a:xfrm>
            <a:off x="795528" y="1892808"/>
            <a:ext cx="3200400" cy="274320"/>
          </a:xfrm>
          <a:prstGeom prst="rect">
            <a:avLst/>
          </a:prstGeom>
          <a:noFill/>
          <a:ln/>
        </p:spPr>
        <p:txBody>
          <a:bodyPr wrap="square" lIns="0" tIns="0" rIns="0" bIns="0" rtlCol="0" anchor="t"/>
          <a:lstStyle/>
          <a:p>
            <a:pPr marL="0" indent="0">
              <a:buNone/>
            </a:pPr>
            <a:r>
              <a:rPr lang="en-US" sz="1100" b="1" kern="0" spc="100" dirty="0">
                <a:solidFill>
                  <a:srgbClr val="475569"/>
                </a:solidFill>
                <a:latin typeface="Segoe UI" pitchFamily="34" charset="0"/>
                <a:ea typeface="Segoe UI" pitchFamily="34" charset="-122"/>
                <a:cs typeface="Segoe UI" pitchFamily="34" charset="-120"/>
              </a:rPr>
              <a:t>CUSTOMER PROFILES</a:t>
            </a:r>
            <a:endParaRPr lang="en-US" sz="1100" dirty="0"/>
          </a:p>
        </p:txBody>
      </p:sp>
      <p:sp>
        <p:nvSpPr>
          <p:cNvPr id="7" name="Text 5"/>
          <p:cNvSpPr/>
          <p:nvPr/>
        </p:nvSpPr>
        <p:spPr>
          <a:xfrm>
            <a:off x="795528" y="2176272"/>
            <a:ext cx="3200400" cy="685800"/>
          </a:xfrm>
          <a:prstGeom prst="rect">
            <a:avLst/>
          </a:prstGeom>
          <a:noFill/>
          <a:ln/>
        </p:spPr>
        <p:txBody>
          <a:bodyPr wrap="square" lIns="0" tIns="0" rIns="0" bIns="0" rtlCol="0" anchor="t"/>
          <a:lstStyle/>
          <a:p>
            <a:pPr marL="0" indent="0">
              <a:buNone/>
            </a:pPr>
            <a:r>
              <a:rPr lang="en-US" sz="4000" b="1" dirty="0">
                <a:solidFill>
                  <a:srgbClr val="1D3557"/>
                </a:solidFill>
                <a:latin typeface="Segoe UI" pitchFamily="34" charset="0"/>
                <a:ea typeface="Segoe UI" pitchFamily="34" charset="-122"/>
                <a:cs typeface="Segoe UI" pitchFamily="34" charset="-120"/>
              </a:rPr>
              <a:t>2,378</a:t>
            </a:r>
            <a:endParaRPr lang="en-US" sz="4000" dirty="0"/>
          </a:p>
        </p:txBody>
      </p:sp>
      <p:sp>
        <p:nvSpPr>
          <p:cNvPr id="8" name="Text 6"/>
          <p:cNvSpPr/>
          <p:nvPr/>
        </p:nvSpPr>
        <p:spPr>
          <a:xfrm>
            <a:off x="795528" y="2944368"/>
            <a:ext cx="3200400" cy="457200"/>
          </a:xfrm>
          <a:prstGeom prst="rect">
            <a:avLst/>
          </a:prstGeom>
          <a:noFill/>
          <a:ln/>
        </p:spPr>
        <p:txBody>
          <a:bodyPr wrap="square" lIns="0" tIns="0" rIns="0" bIns="0" rtlCol="0" anchor="t"/>
          <a:lstStyle/>
          <a:p>
            <a:pPr marL="0" indent="0">
              <a:buNone/>
            </a:pPr>
            <a:r>
              <a:rPr lang="en-US" sz="1300" dirty="0">
                <a:solidFill>
                  <a:srgbClr val="475569"/>
                </a:solidFill>
                <a:latin typeface="Segoe UI" pitchFamily="34" charset="0"/>
                <a:ea typeface="Segoe UI" pitchFamily="34" charset="-122"/>
                <a:cs typeface="Segoe UI" pitchFamily="34" charset="-120"/>
              </a:rPr>
              <a:t>customers, one row each</a:t>
            </a:r>
            <a:endParaRPr lang="en-US" sz="1300" dirty="0"/>
          </a:p>
        </p:txBody>
      </p:sp>
      <p:sp>
        <p:nvSpPr>
          <p:cNvPr id="9" name="Shape 7"/>
          <p:cNvSpPr/>
          <p:nvPr/>
        </p:nvSpPr>
        <p:spPr>
          <a:xfrm>
            <a:off x="4379976" y="1691640"/>
            <a:ext cx="3575304" cy="1874520"/>
          </a:xfrm>
          <a:prstGeom prst="rect">
            <a:avLst/>
          </a:prstGeom>
          <a:solidFill>
            <a:srgbClr val="FFFFFF"/>
          </a:solidFill>
          <a:ln w="12700">
            <a:solidFill>
              <a:srgbClr val="E2E8F0"/>
            </a:solidFill>
            <a:prstDash val="solid"/>
          </a:ln>
        </p:spPr>
        <p:txBody>
          <a:bodyPr/>
          <a:lstStyle/>
          <a:p>
            <a:endParaRPr lang="en-US"/>
          </a:p>
        </p:txBody>
      </p:sp>
      <p:sp>
        <p:nvSpPr>
          <p:cNvPr id="10" name="Shape 8"/>
          <p:cNvSpPr/>
          <p:nvPr/>
        </p:nvSpPr>
        <p:spPr>
          <a:xfrm>
            <a:off x="4379976" y="1691640"/>
            <a:ext cx="3575304" cy="54864"/>
          </a:xfrm>
          <a:prstGeom prst="rect">
            <a:avLst/>
          </a:prstGeom>
          <a:solidFill>
            <a:srgbClr val="0F766E"/>
          </a:solidFill>
          <a:ln w="12700">
            <a:solidFill>
              <a:srgbClr val="0F766E"/>
            </a:solidFill>
            <a:prstDash val="solid"/>
          </a:ln>
        </p:spPr>
        <p:txBody>
          <a:bodyPr/>
          <a:lstStyle/>
          <a:p>
            <a:endParaRPr lang="en-US"/>
          </a:p>
        </p:txBody>
      </p:sp>
      <p:sp>
        <p:nvSpPr>
          <p:cNvPr id="11" name="Text 9"/>
          <p:cNvSpPr/>
          <p:nvPr/>
        </p:nvSpPr>
        <p:spPr>
          <a:xfrm>
            <a:off x="4608576" y="1892808"/>
            <a:ext cx="3200400" cy="274320"/>
          </a:xfrm>
          <a:prstGeom prst="rect">
            <a:avLst/>
          </a:prstGeom>
          <a:noFill/>
          <a:ln/>
        </p:spPr>
        <p:txBody>
          <a:bodyPr wrap="square" lIns="0" tIns="0" rIns="0" bIns="0" rtlCol="0" anchor="t"/>
          <a:lstStyle/>
          <a:p>
            <a:pPr marL="0" indent="0">
              <a:buNone/>
            </a:pPr>
            <a:r>
              <a:rPr lang="en-US" sz="1100" b="1" kern="0" spc="100" dirty="0">
                <a:solidFill>
                  <a:srgbClr val="475569"/>
                </a:solidFill>
                <a:latin typeface="Segoe UI" pitchFamily="34" charset="0"/>
                <a:ea typeface="Segoe UI" pitchFamily="34" charset="-122"/>
                <a:cs typeface="Segoe UI" pitchFamily="34" charset="-120"/>
              </a:rPr>
              <a:t>PURCHASE RECORDS</a:t>
            </a:r>
            <a:endParaRPr lang="en-US" sz="1100" dirty="0"/>
          </a:p>
        </p:txBody>
      </p:sp>
      <p:sp>
        <p:nvSpPr>
          <p:cNvPr id="12" name="Text 10"/>
          <p:cNvSpPr/>
          <p:nvPr/>
        </p:nvSpPr>
        <p:spPr>
          <a:xfrm>
            <a:off x="4608576" y="2176272"/>
            <a:ext cx="3200400" cy="685800"/>
          </a:xfrm>
          <a:prstGeom prst="rect">
            <a:avLst/>
          </a:prstGeom>
          <a:noFill/>
          <a:ln/>
        </p:spPr>
        <p:txBody>
          <a:bodyPr wrap="square" lIns="0" tIns="0" rIns="0" bIns="0" rtlCol="0" anchor="t"/>
          <a:lstStyle/>
          <a:p>
            <a:pPr marL="0" indent="0">
              <a:buNone/>
            </a:pPr>
            <a:r>
              <a:rPr lang="en-US" sz="4000" b="1" dirty="0">
                <a:solidFill>
                  <a:srgbClr val="0F766E"/>
                </a:solidFill>
                <a:latin typeface="Segoe UI" pitchFamily="34" charset="0"/>
                <a:ea typeface="Segoe UI" pitchFamily="34" charset="-122"/>
                <a:cs typeface="Segoe UI" pitchFamily="34" charset="-120"/>
              </a:rPr>
              <a:t>2,420</a:t>
            </a:r>
            <a:endParaRPr lang="en-US" sz="4000" dirty="0"/>
          </a:p>
        </p:txBody>
      </p:sp>
      <p:sp>
        <p:nvSpPr>
          <p:cNvPr id="13" name="Text 11"/>
          <p:cNvSpPr/>
          <p:nvPr/>
        </p:nvSpPr>
        <p:spPr>
          <a:xfrm>
            <a:off x="4608576" y="2944368"/>
            <a:ext cx="3200400" cy="457200"/>
          </a:xfrm>
          <a:prstGeom prst="rect">
            <a:avLst/>
          </a:prstGeom>
          <a:noFill/>
          <a:ln/>
        </p:spPr>
        <p:txBody>
          <a:bodyPr wrap="square" lIns="0" tIns="0" rIns="0" bIns="0" rtlCol="0" anchor="t"/>
          <a:lstStyle/>
          <a:p>
            <a:pPr marL="0" indent="0">
              <a:buNone/>
            </a:pPr>
            <a:r>
              <a:rPr lang="en-US" sz="1300" dirty="0">
                <a:solidFill>
                  <a:srgbClr val="475569"/>
                </a:solidFill>
                <a:latin typeface="Segoe UI" pitchFamily="34" charset="0"/>
                <a:ea typeface="Segoe UI" pitchFamily="34" charset="-122"/>
                <a:cs typeface="Segoe UI" pitchFamily="34" charset="-120"/>
              </a:rPr>
              <a:t>purchase rows from 1,642 buyers</a:t>
            </a:r>
            <a:endParaRPr lang="en-US" sz="1300" dirty="0"/>
          </a:p>
        </p:txBody>
      </p:sp>
      <p:sp>
        <p:nvSpPr>
          <p:cNvPr id="14" name="Shape 12"/>
          <p:cNvSpPr/>
          <p:nvPr/>
        </p:nvSpPr>
        <p:spPr>
          <a:xfrm>
            <a:off x="8193024" y="1691640"/>
            <a:ext cx="3575304" cy="1874520"/>
          </a:xfrm>
          <a:prstGeom prst="rect">
            <a:avLst/>
          </a:prstGeom>
          <a:solidFill>
            <a:srgbClr val="FFFFFF"/>
          </a:solidFill>
          <a:ln w="12700">
            <a:solidFill>
              <a:srgbClr val="E2E8F0"/>
            </a:solidFill>
            <a:prstDash val="solid"/>
          </a:ln>
        </p:spPr>
        <p:txBody>
          <a:bodyPr/>
          <a:lstStyle/>
          <a:p>
            <a:endParaRPr lang="en-US"/>
          </a:p>
        </p:txBody>
      </p:sp>
      <p:sp>
        <p:nvSpPr>
          <p:cNvPr id="15" name="Shape 13"/>
          <p:cNvSpPr/>
          <p:nvPr/>
        </p:nvSpPr>
        <p:spPr>
          <a:xfrm>
            <a:off x="8193024" y="1691640"/>
            <a:ext cx="3575304" cy="54864"/>
          </a:xfrm>
          <a:prstGeom prst="rect">
            <a:avLst/>
          </a:prstGeom>
          <a:solidFill>
            <a:srgbClr val="A76117"/>
          </a:solidFill>
          <a:ln w="12700">
            <a:solidFill>
              <a:srgbClr val="A76117"/>
            </a:solidFill>
            <a:prstDash val="solid"/>
          </a:ln>
        </p:spPr>
        <p:txBody>
          <a:bodyPr/>
          <a:lstStyle/>
          <a:p>
            <a:endParaRPr lang="en-US"/>
          </a:p>
        </p:txBody>
      </p:sp>
      <p:sp>
        <p:nvSpPr>
          <p:cNvPr id="16" name="Text 14"/>
          <p:cNvSpPr/>
          <p:nvPr/>
        </p:nvSpPr>
        <p:spPr>
          <a:xfrm>
            <a:off x="8421624" y="1892808"/>
            <a:ext cx="3200400" cy="274320"/>
          </a:xfrm>
          <a:prstGeom prst="rect">
            <a:avLst/>
          </a:prstGeom>
          <a:noFill/>
          <a:ln/>
        </p:spPr>
        <p:txBody>
          <a:bodyPr wrap="square" lIns="0" tIns="0" rIns="0" bIns="0" rtlCol="0" anchor="t"/>
          <a:lstStyle/>
          <a:p>
            <a:pPr marL="0" indent="0">
              <a:buNone/>
            </a:pPr>
            <a:r>
              <a:rPr lang="en-US" sz="1100" b="1" kern="0" spc="100" dirty="0">
                <a:solidFill>
                  <a:srgbClr val="475569"/>
                </a:solidFill>
                <a:latin typeface="Segoe UI" pitchFamily="34" charset="0"/>
                <a:ea typeface="Segoe UI" pitchFamily="34" charset="-122"/>
                <a:cs typeface="Segoe UI" pitchFamily="34" charset="-120"/>
              </a:rPr>
              <a:t>SOCIAL MEDIA RECORDS</a:t>
            </a:r>
            <a:endParaRPr lang="en-US" sz="1100" dirty="0"/>
          </a:p>
        </p:txBody>
      </p:sp>
      <p:sp>
        <p:nvSpPr>
          <p:cNvPr id="17" name="Text 15"/>
          <p:cNvSpPr/>
          <p:nvPr/>
        </p:nvSpPr>
        <p:spPr>
          <a:xfrm>
            <a:off x="8421624" y="2176272"/>
            <a:ext cx="3200400" cy="685800"/>
          </a:xfrm>
          <a:prstGeom prst="rect">
            <a:avLst/>
          </a:prstGeom>
          <a:noFill/>
          <a:ln/>
        </p:spPr>
        <p:txBody>
          <a:bodyPr wrap="square" lIns="0" tIns="0" rIns="0" bIns="0" rtlCol="0" anchor="t"/>
          <a:lstStyle/>
          <a:p>
            <a:pPr marL="0" indent="0">
              <a:buNone/>
            </a:pPr>
            <a:r>
              <a:rPr lang="en-US" sz="4000" b="1" dirty="0">
                <a:solidFill>
                  <a:srgbClr val="A76117"/>
                </a:solidFill>
                <a:latin typeface="Segoe UI" pitchFamily="34" charset="0"/>
                <a:ea typeface="Segoe UI" pitchFamily="34" charset="-122"/>
                <a:cs typeface="Segoe UI" pitchFamily="34" charset="-120"/>
              </a:rPr>
              <a:t>2,411</a:t>
            </a:r>
            <a:endParaRPr lang="en-US" sz="4000" dirty="0"/>
          </a:p>
        </p:txBody>
      </p:sp>
      <p:sp>
        <p:nvSpPr>
          <p:cNvPr id="18" name="Text 16"/>
          <p:cNvSpPr/>
          <p:nvPr/>
        </p:nvSpPr>
        <p:spPr>
          <a:xfrm>
            <a:off x="8421624" y="2944368"/>
            <a:ext cx="3200400" cy="457200"/>
          </a:xfrm>
          <a:prstGeom prst="rect">
            <a:avLst/>
          </a:prstGeom>
          <a:noFill/>
          <a:ln/>
        </p:spPr>
        <p:txBody>
          <a:bodyPr wrap="square" lIns="0" tIns="0" rIns="0" bIns="0" rtlCol="0" anchor="t"/>
          <a:lstStyle/>
          <a:p>
            <a:pPr marL="0" indent="0">
              <a:buNone/>
            </a:pPr>
            <a:r>
              <a:rPr lang="en-US" sz="1300" dirty="0">
                <a:solidFill>
                  <a:srgbClr val="475569"/>
                </a:solidFill>
                <a:latin typeface="Segoe UI" pitchFamily="34" charset="0"/>
                <a:ea typeface="Segoe UI" pitchFamily="34" charset="-122"/>
                <a:cs typeface="Segoe UI" pitchFamily="34" charset="-120"/>
              </a:rPr>
              <a:t>interaction events from 1,640 customers</a:t>
            </a:r>
            <a:endParaRPr lang="en-US" sz="1300" dirty="0"/>
          </a:p>
        </p:txBody>
      </p:sp>
      <p:sp>
        <p:nvSpPr>
          <p:cNvPr id="19" name="Text 17"/>
          <p:cNvSpPr/>
          <p:nvPr/>
        </p:nvSpPr>
        <p:spPr>
          <a:xfrm>
            <a:off x="566928" y="3840480"/>
            <a:ext cx="3657600" cy="274320"/>
          </a:xfrm>
          <a:prstGeom prst="rect">
            <a:avLst/>
          </a:prstGeom>
          <a:noFill/>
          <a:ln/>
        </p:spPr>
        <p:txBody>
          <a:bodyPr wrap="square" lIns="0" tIns="0" rIns="0" bIns="0" rtlCol="0" anchor="t"/>
          <a:lstStyle/>
          <a:p>
            <a:pPr marL="0" indent="0">
              <a:buNone/>
            </a:pPr>
            <a:r>
              <a:rPr lang="en-US" sz="1100" b="1" kern="0" spc="100" dirty="0">
                <a:solidFill>
                  <a:srgbClr val="475569"/>
                </a:solidFill>
                <a:latin typeface="Segoe UI" pitchFamily="34" charset="0"/>
                <a:ea typeface="Segoe UI" pitchFamily="34" charset="-122"/>
                <a:cs typeface="Segoe UI" pitchFamily="34" charset="-120"/>
              </a:rPr>
              <a:t>TIME WINDOW</a:t>
            </a:r>
            <a:endParaRPr lang="en-US" sz="1100" dirty="0"/>
          </a:p>
        </p:txBody>
      </p:sp>
      <p:sp>
        <p:nvSpPr>
          <p:cNvPr id="20" name="Shape 18"/>
          <p:cNvSpPr/>
          <p:nvPr/>
        </p:nvSpPr>
        <p:spPr>
          <a:xfrm>
            <a:off x="6949440" y="4160520"/>
            <a:ext cx="4572000" cy="960120"/>
          </a:xfrm>
          <a:prstGeom prst="rect">
            <a:avLst/>
          </a:prstGeom>
          <a:solidFill>
            <a:srgbClr val="EEF2F7"/>
          </a:solidFill>
          <a:ln w="12700">
            <a:solidFill>
              <a:srgbClr val="EEF2F7"/>
            </a:solidFill>
            <a:prstDash val="solid"/>
          </a:ln>
        </p:spPr>
        <p:txBody>
          <a:bodyPr/>
          <a:lstStyle/>
          <a:p>
            <a:endParaRPr lang="en-US"/>
          </a:p>
        </p:txBody>
      </p:sp>
      <p:sp>
        <p:nvSpPr>
          <p:cNvPr id="21" name="Text 19"/>
          <p:cNvSpPr/>
          <p:nvPr/>
        </p:nvSpPr>
        <p:spPr>
          <a:xfrm>
            <a:off x="7040880" y="5138928"/>
            <a:ext cx="4206240" cy="22860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Shared 12 months (Jul 2023 to Jun 2024)</a:t>
            </a:r>
            <a:endParaRPr lang="en-US" sz="1000" dirty="0"/>
          </a:p>
        </p:txBody>
      </p:sp>
      <p:sp>
        <p:nvSpPr>
          <p:cNvPr id="22" name="Text 20"/>
          <p:cNvSpPr/>
          <p:nvPr/>
        </p:nvSpPr>
        <p:spPr>
          <a:xfrm>
            <a:off x="566928" y="4206240"/>
            <a:ext cx="1737360" cy="457200"/>
          </a:xfrm>
          <a:prstGeom prst="rect">
            <a:avLst/>
          </a:prstGeom>
          <a:noFill/>
          <a:ln/>
        </p:spPr>
        <p:txBody>
          <a:bodyPr wrap="square" lIns="0" tIns="0" rIns="0" bIns="0" rtlCol="0" anchor="t"/>
          <a:lstStyle/>
          <a:p>
            <a:pPr marL="0" indent="0">
              <a:buNone/>
            </a:pPr>
            <a:r>
              <a:rPr lang="en-US" sz="1100" b="1" dirty="0">
                <a:solidFill>
                  <a:srgbClr val="0F766E"/>
                </a:solidFill>
                <a:latin typeface="Segoe UI" pitchFamily="34" charset="0"/>
                <a:ea typeface="Segoe UI" pitchFamily="34" charset="-122"/>
                <a:cs typeface="Segoe UI" pitchFamily="34" charset="-120"/>
              </a:rPr>
              <a:t>Purchases: Jul 2022 to Jun 2024</a:t>
            </a:r>
            <a:endParaRPr lang="en-US" sz="1100" dirty="0"/>
          </a:p>
        </p:txBody>
      </p:sp>
      <p:sp>
        <p:nvSpPr>
          <p:cNvPr id="23" name="Shape 21"/>
          <p:cNvSpPr/>
          <p:nvPr/>
        </p:nvSpPr>
        <p:spPr>
          <a:xfrm>
            <a:off x="2377440" y="4224528"/>
            <a:ext cx="9144000" cy="201168"/>
          </a:xfrm>
          <a:prstGeom prst="rect">
            <a:avLst/>
          </a:prstGeom>
          <a:solidFill>
            <a:srgbClr val="0F766E"/>
          </a:solidFill>
          <a:ln w="12700">
            <a:solidFill>
              <a:srgbClr val="0F766E"/>
            </a:solidFill>
            <a:prstDash val="solid"/>
          </a:ln>
        </p:spPr>
        <p:txBody>
          <a:bodyPr/>
          <a:lstStyle/>
          <a:p>
            <a:endParaRPr lang="en-US"/>
          </a:p>
        </p:txBody>
      </p:sp>
      <p:sp>
        <p:nvSpPr>
          <p:cNvPr id="24" name="Text 22"/>
          <p:cNvSpPr/>
          <p:nvPr/>
        </p:nvSpPr>
        <p:spPr>
          <a:xfrm>
            <a:off x="566928" y="4572000"/>
            <a:ext cx="1783080" cy="457200"/>
          </a:xfrm>
          <a:prstGeom prst="rect">
            <a:avLst/>
          </a:prstGeom>
          <a:noFill/>
          <a:ln/>
        </p:spPr>
        <p:txBody>
          <a:bodyPr wrap="square" lIns="0" tIns="0" rIns="0" bIns="0" rtlCol="0" anchor="t"/>
          <a:lstStyle/>
          <a:p>
            <a:pPr marL="0" indent="0">
              <a:buNone/>
            </a:pPr>
            <a:r>
              <a:rPr lang="en-US" sz="1100" b="1" dirty="0">
                <a:solidFill>
                  <a:srgbClr val="A76117"/>
                </a:solidFill>
                <a:latin typeface="Segoe UI" pitchFamily="34" charset="0"/>
                <a:ea typeface="Segoe UI" pitchFamily="34" charset="-122"/>
                <a:cs typeface="Segoe UI" pitchFamily="34" charset="-120"/>
              </a:rPr>
              <a:t>Social: Jul 2023 to Jun 2024</a:t>
            </a:r>
            <a:endParaRPr lang="en-US" sz="1100" dirty="0"/>
          </a:p>
        </p:txBody>
      </p:sp>
      <p:sp>
        <p:nvSpPr>
          <p:cNvPr id="25" name="Shape 23"/>
          <p:cNvSpPr/>
          <p:nvPr/>
        </p:nvSpPr>
        <p:spPr>
          <a:xfrm>
            <a:off x="6949440" y="4636008"/>
            <a:ext cx="4572000" cy="201168"/>
          </a:xfrm>
          <a:prstGeom prst="rect">
            <a:avLst/>
          </a:prstGeom>
          <a:solidFill>
            <a:srgbClr val="A76117"/>
          </a:solidFill>
          <a:ln w="12700">
            <a:solidFill>
              <a:srgbClr val="A76117"/>
            </a:solidFill>
            <a:prstDash val="solid"/>
          </a:ln>
        </p:spPr>
        <p:txBody>
          <a:bodyPr/>
          <a:lstStyle/>
          <a:p>
            <a:endParaRPr lang="en-US"/>
          </a:p>
        </p:txBody>
      </p:sp>
      <p:sp>
        <p:nvSpPr>
          <p:cNvPr id="26" name="Text 24"/>
          <p:cNvSpPr/>
          <p:nvPr/>
        </p:nvSpPr>
        <p:spPr>
          <a:xfrm>
            <a:off x="566928" y="5413248"/>
            <a:ext cx="8229600" cy="22860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Profile signup dates: 2019 to 2024; earlier dates extend outside the chart.</a:t>
            </a:r>
            <a:endParaRPr lang="en-US" sz="1000" dirty="0"/>
          </a:p>
        </p:txBody>
      </p:sp>
      <p:sp>
        <p:nvSpPr>
          <p:cNvPr id="27" name="Shape 25"/>
          <p:cNvSpPr/>
          <p:nvPr/>
        </p:nvSpPr>
        <p:spPr>
          <a:xfrm>
            <a:off x="566928" y="5715000"/>
            <a:ext cx="2651760" cy="548640"/>
          </a:xfrm>
          <a:prstGeom prst="roundRect">
            <a:avLst>
              <a:gd name="adj" fmla="val 10000"/>
            </a:avLst>
          </a:prstGeom>
          <a:solidFill>
            <a:srgbClr val="F4F8F7"/>
          </a:solidFill>
          <a:ln w="12700">
            <a:solidFill>
              <a:srgbClr val="E2E8F0"/>
            </a:solidFill>
            <a:prstDash val="solid"/>
          </a:ln>
        </p:spPr>
        <p:txBody>
          <a:bodyPr/>
          <a:lstStyle/>
          <a:p>
            <a:endParaRPr lang="en-US"/>
          </a:p>
        </p:txBody>
      </p:sp>
      <p:sp>
        <p:nvSpPr>
          <p:cNvPr id="28" name="Text 26"/>
          <p:cNvSpPr/>
          <p:nvPr/>
        </p:nvSpPr>
        <p:spPr>
          <a:xfrm>
            <a:off x="704088" y="5715000"/>
            <a:ext cx="2468880" cy="548640"/>
          </a:xfrm>
          <a:prstGeom prst="rect">
            <a:avLst/>
          </a:prstGeom>
          <a:noFill/>
          <a:ln/>
        </p:spPr>
        <p:txBody>
          <a:bodyPr wrap="square" lIns="0" tIns="0" rIns="0" bIns="0" rtlCol="0" anchor="ctr"/>
          <a:lstStyle/>
          <a:p>
            <a:pPr marL="0" indent="0">
              <a:buNone/>
            </a:pPr>
            <a:r>
              <a:rPr lang="en-US" sz="1600" b="1" dirty="0">
                <a:solidFill>
                  <a:srgbClr val="1D3557"/>
                </a:solidFill>
                <a:latin typeface="Segoe UI" pitchFamily="34" charset="0"/>
                <a:ea typeface="Segoe UI" pitchFamily="34" charset="-122"/>
                <a:cs typeface="Segoe UI" pitchFamily="34" charset="-120"/>
              </a:rPr>
              <a:t>718  </a:t>
            </a:r>
            <a:r>
              <a:rPr lang="en-US" sz="1000" dirty="0">
                <a:solidFill>
                  <a:srgbClr val="475569"/>
                </a:solidFill>
                <a:latin typeface="Segoe UI" pitchFamily="34" charset="0"/>
                <a:ea typeface="Segoe UI" pitchFamily="34" charset="-122"/>
                <a:cs typeface="Segoe UI" pitchFamily="34" charset="-120"/>
              </a:rPr>
              <a:t>all three sources, full dates</a:t>
            </a:r>
            <a:endParaRPr lang="en-US" sz="1600" dirty="0"/>
          </a:p>
        </p:txBody>
      </p:sp>
      <p:sp>
        <p:nvSpPr>
          <p:cNvPr id="29" name="Shape 27"/>
          <p:cNvSpPr/>
          <p:nvPr/>
        </p:nvSpPr>
        <p:spPr>
          <a:xfrm>
            <a:off x="3355848" y="5715000"/>
            <a:ext cx="2651760" cy="548640"/>
          </a:xfrm>
          <a:prstGeom prst="roundRect">
            <a:avLst>
              <a:gd name="adj" fmla="val 10000"/>
            </a:avLst>
          </a:prstGeom>
          <a:solidFill>
            <a:srgbClr val="F4F8F7"/>
          </a:solidFill>
          <a:ln w="12700">
            <a:solidFill>
              <a:srgbClr val="E2E8F0"/>
            </a:solidFill>
            <a:prstDash val="solid"/>
          </a:ln>
        </p:spPr>
        <p:txBody>
          <a:bodyPr/>
          <a:lstStyle/>
          <a:p>
            <a:endParaRPr lang="en-US"/>
          </a:p>
        </p:txBody>
      </p:sp>
      <p:sp>
        <p:nvSpPr>
          <p:cNvPr id="30" name="Text 28"/>
          <p:cNvSpPr/>
          <p:nvPr/>
        </p:nvSpPr>
        <p:spPr>
          <a:xfrm>
            <a:off x="3493008" y="5715000"/>
            <a:ext cx="2468880" cy="548640"/>
          </a:xfrm>
          <a:prstGeom prst="rect">
            <a:avLst/>
          </a:prstGeom>
          <a:noFill/>
          <a:ln/>
        </p:spPr>
        <p:txBody>
          <a:bodyPr wrap="square" lIns="0" tIns="0" rIns="0" bIns="0" rtlCol="0" anchor="ctr"/>
          <a:lstStyle/>
          <a:p>
            <a:pPr marL="0" indent="0">
              <a:buNone/>
            </a:pPr>
            <a:r>
              <a:rPr lang="en-US" sz="1600" b="1" dirty="0">
                <a:solidFill>
                  <a:srgbClr val="1D3557"/>
                </a:solidFill>
                <a:latin typeface="Segoe UI" pitchFamily="34" charset="0"/>
                <a:ea typeface="Segoe UI" pitchFamily="34" charset="-122"/>
                <a:cs typeface="Segoe UI" pitchFamily="34" charset="-120"/>
              </a:rPr>
              <a:t>1,306  </a:t>
            </a:r>
            <a:r>
              <a:rPr lang="en-US" sz="1000" dirty="0">
                <a:solidFill>
                  <a:srgbClr val="475569"/>
                </a:solidFill>
                <a:latin typeface="Segoe UI" pitchFamily="34" charset="0"/>
                <a:ea typeface="Segoe UI" pitchFamily="34" charset="-122"/>
                <a:cs typeface="Segoe UI" pitchFamily="34" charset="-120"/>
              </a:rPr>
              <a:t>profiles + purchases, all dates</a:t>
            </a:r>
            <a:endParaRPr lang="en-US" sz="1600" dirty="0"/>
          </a:p>
        </p:txBody>
      </p:sp>
      <p:sp>
        <p:nvSpPr>
          <p:cNvPr id="31" name="Shape 29"/>
          <p:cNvSpPr/>
          <p:nvPr/>
        </p:nvSpPr>
        <p:spPr>
          <a:xfrm>
            <a:off x="6144768" y="5715000"/>
            <a:ext cx="2651760" cy="548640"/>
          </a:xfrm>
          <a:prstGeom prst="roundRect">
            <a:avLst>
              <a:gd name="adj" fmla="val 10000"/>
            </a:avLst>
          </a:prstGeom>
          <a:solidFill>
            <a:srgbClr val="F4F8F7"/>
          </a:solidFill>
          <a:ln w="12700">
            <a:solidFill>
              <a:srgbClr val="E2E8F0"/>
            </a:solidFill>
            <a:prstDash val="solid"/>
          </a:ln>
        </p:spPr>
        <p:txBody>
          <a:bodyPr/>
          <a:lstStyle/>
          <a:p>
            <a:endParaRPr lang="en-US"/>
          </a:p>
        </p:txBody>
      </p:sp>
      <p:sp>
        <p:nvSpPr>
          <p:cNvPr id="32" name="Text 30"/>
          <p:cNvSpPr/>
          <p:nvPr/>
        </p:nvSpPr>
        <p:spPr>
          <a:xfrm>
            <a:off x="6281928" y="5715000"/>
            <a:ext cx="2468880" cy="548640"/>
          </a:xfrm>
          <a:prstGeom prst="rect">
            <a:avLst/>
          </a:prstGeom>
          <a:noFill/>
          <a:ln/>
        </p:spPr>
        <p:txBody>
          <a:bodyPr wrap="square" lIns="0" tIns="0" rIns="0" bIns="0" rtlCol="0" anchor="ctr"/>
          <a:lstStyle/>
          <a:p>
            <a:pPr marL="0" indent="0">
              <a:buNone/>
            </a:pPr>
            <a:r>
              <a:rPr lang="en-US" sz="1600" b="1" dirty="0">
                <a:solidFill>
                  <a:srgbClr val="1D3557"/>
                </a:solidFill>
                <a:latin typeface="Segoe UI" pitchFamily="34" charset="0"/>
                <a:ea typeface="Segoe UI" pitchFamily="34" charset="-122"/>
                <a:cs typeface="Segoe UI" pitchFamily="34" charset="-120"/>
              </a:rPr>
              <a:t>564  </a:t>
            </a:r>
            <a:r>
              <a:rPr lang="en-US" sz="1000" dirty="0">
                <a:solidFill>
                  <a:srgbClr val="475569"/>
                </a:solidFill>
                <a:latin typeface="Segoe UI" pitchFamily="34" charset="0"/>
                <a:ea typeface="Segoe UI" pitchFamily="34" charset="-122"/>
                <a:cs typeface="Segoe UI" pitchFamily="34" charset="-120"/>
              </a:rPr>
              <a:t>purchases + social, shared year</a:t>
            </a:r>
            <a:endParaRPr lang="en-US" sz="1600" dirty="0"/>
          </a:p>
        </p:txBody>
      </p:sp>
      <p:sp>
        <p:nvSpPr>
          <p:cNvPr id="33" name="Shape 31"/>
          <p:cNvSpPr/>
          <p:nvPr/>
        </p:nvSpPr>
        <p:spPr>
          <a:xfrm>
            <a:off x="8933688" y="5715000"/>
            <a:ext cx="2651760" cy="548640"/>
          </a:xfrm>
          <a:prstGeom prst="roundRect">
            <a:avLst>
              <a:gd name="adj" fmla="val 10000"/>
            </a:avLst>
          </a:prstGeom>
          <a:solidFill>
            <a:srgbClr val="F4F8F7"/>
          </a:solidFill>
          <a:ln w="12700">
            <a:solidFill>
              <a:srgbClr val="E2E8F0"/>
            </a:solidFill>
            <a:prstDash val="solid"/>
          </a:ln>
        </p:spPr>
        <p:txBody>
          <a:bodyPr/>
          <a:lstStyle/>
          <a:p>
            <a:endParaRPr lang="en-US"/>
          </a:p>
        </p:txBody>
      </p:sp>
      <p:sp>
        <p:nvSpPr>
          <p:cNvPr id="34" name="Text 32"/>
          <p:cNvSpPr/>
          <p:nvPr/>
        </p:nvSpPr>
        <p:spPr>
          <a:xfrm>
            <a:off x="9070848" y="5715000"/>
            <a:ext cx="2468880" cy="548640"/>
          </a:xfrm>
          <a:prstGeom prst="rect">
            <a:avLst/>
          </a:prstGeom>
          <a:noFill/>
          <a:ln/>
        </p:spPr>
        <p:txBody>
          <a:bodyPr wrap="square" lIns="0" tIns="0" rIns="0" bIns="0" rtlCol="0" anchor="ctr"/>
          <a:lstStyle/>
          <a:p>
            <a:pPr marL="0" indent="0">
              <a:buNone/>
            </a:pPr>
            <a:r>
              <a:rPr lang="en-US" sz="1600" b="1" dirty="0">
                <a:solidFill>
                  <a:srgbClr val="1D3557"/>
                </a:solidFill>
                <a:latin typeface="Segoe UI" pitchFamily="34" charset="0"/>
                <a:ea typeface="Segoe UI" pitchFamily="34" charset="-122"/>
                <a:cs typeface="Segoe UI" pitchFamily="34" charset="-120"/>
              </a:rPr>
              <a:t>457  </a:t>
            </a:r>
            <a:r>
              <a:rPr lang="en-US" sz="1000" dirty="0">
                <a:solidFill>
                  <a:srgbClr val="475569"/>
                </a:solidFill>
                <a:latin typeface="Segoe UI" pitchFamily="34" charset="0"/>
                <a:ea typeface="Segoe UI" pitchFamily="34" charset="-122"/>
                <a:cs typeface="Segoe UI" pitchFamily="34" charset="-120"/>
              </a:rPr>
              <a:t>all three sources, shared year</a:t>
            </a:r>
            <a:endParaRPr lang="en-US" sz="1600" dirty="0"/>
          </a:p>
        </p:txBody>
      </p:sp>
      <p:sp>
        <p:nvSpPr>
          <p:cNvPr id="35" name="Shape 33"/>
          <p:cNvSpPr/>
          <p:nvPr/>
        </p:nvSpPr>
        <p:spPr>
          <a:xfrm>
            <a:off x="566928" y="6373368"/>
            <a:ext cx="11064240" cy="0"/>
          </a:xfrm>
          <a:prstGeom prst="line">
            <a:avLst/>
          </a:prstGeom>
          <a:noFill/>
          <a:ln w="12700">
            <a:solidFill>
              <a:srgbClr val="E2E8F0"/>
            </a:solidFill>
            <a:prstDash val="solid"/>
          </a:ln>
        </p:spPr>
        <p:txBody>
          <a:bodyPr/>
          <a:lstStyle/>
          <a:p>
            <a:endParaRPr lang="en-US"/>
          </a:p>
        </p:txBody>
      </p:sp>
      <p:sp>
        <p:nvSpPr>
          <p:cNvPr id="36" name="Text 34"/>
          <p:cNvSpPr/>
          <p:nvPr/>
        </p:nvSpPr>
        <p:spPr>
          <a:xfrm>
            <a:off x="566928" y="6446520"/>
            <a:ext cx="4114800" cy="22860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FINMARK  |  TEAM 3  |  MO-IT162</a:t>
            </a:r>
            <a:endParaRPr lang="en-US" sz="1000" dirty="0"/>
          </a:p>
        </p:txBody>
      </p:sp>
      <p:sp>
        <p:nvSpPr>
          <p:cNvPr id="37" name="Text 35"/>
          <p:cNvSpPr/>
          <p:nvPr/>
        </p:nvSpPr>
        <p:spPr>
          <a:xfrm>
            <a:off x="4206240" y="6446520"/>
            <a:ext cx="6583680"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Cleaned FinMark CSVs | customer counts unless marked</a:t>
            </a:r>
            <a:endParaRPr lang="en-US" sz="1000" dirty="0"/>
          </a:p>
        </p:txBody>
      </p:sp>
      <p:sp>
        <p:nvSpPr>
          <p:cNvPr id="38" name="Text 36"/>
          <p:cNvSpPr/>
          <p:nvPr/>
        </p:nvSpPr>
        <p:spPr>
          <a:xfrm>
            <a:off x="10881360" y="6446520"/>
            <a:ext cx="749808"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02 / 09</a:t>
            </a:r>
            <a:endParaRPr lang="en-US" sz="1000" dirty="0"/>
          </a:p>
        </p:txBody>
      </p:sp>
      <p:sp>
        <p:nvSpPr>
          <p:cNvPr id="39" name="Text 36"/>
          <p:cNvSpPr/>
          <p:nvPr/>
        </p:nvSpPr>
        <p:spPr>
          <a:xfrm>
            <a:off x="10881360" y="6446520"/>
            <a:ext cx="749808"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02 / 09</a:t>
            </a:r>
            <a:endParaRPr lang="en-US" sz="1000" dirty="0"/>
          </a:p>
        </p:txBody>
      </p:sp>
      <p:pic>
        <p:nvPicPr>
          <p:cNvPr id="44" name="Image 0" descr="C:\Users\ongoj\OneDrive\Documents\+MachineLearning\MFML\artifacts\finmark_visual_first_refinement\baseline\media\s1_Picture_25.png">
            <a:extLst>
              <a:ext uri="{FF2B5EF4-FFF2-40B4-BE49-F238E27FC236}">
                <a16:creationId xmlns:a16="http://schemas.microsoft.com/office/drawing/2014/main" id="{C6869A77-88FF-31FE-E202-EAA373C36562}"/>
              </a:ext>
            </a:extLst>
          </p:cNvPr>
          <p:cNvPicPr>
            <a:picLocks noChangeAspect="1"/>
          </p:cNvPicPr>
          <p:nvPr/>
        </p:nvPicPr>
        <p:blipFill>
          <a:blip r:embed="rId3">
            <a:duotone>
              <a:prstClr val="black"/>
              <a:schemeClr val="accent1">
                <a:tint val="45000"/>
                <a:satMod val="400000"/>
              </a:schemeClr>
            </a:duotone>
            <a:alphaModFix amt="20000"/>
            <a:extLst>
              <a:ext uri="{BEBA8EAE-BF5A-486C-A8C5-ECC9F3942E4B}">
                <a14:imgProps xmlns:a14="http://schemas.microsoft.com/office/drawing/2010/main">
                  <a14:imgLayer r:embed="rId4">
                    <a14:imgEffect>
                      <a14:artisticCement/>
                    </a14:imgEffect>
                  </a14:imgLayer>
                </a14:imgProps>
              </a:ext>
            </a:extLst>
          </a:blip>
          <a:stretch>
            <a:fillRect/>
          </a:stretch>
        </p:blipFill>
        <p:spPr>
          <a:xfrm>
            <a:off x="2779778" y="310898"/>
            <a:ext cx="6291070" cy="6291070"/>
          </a:xfrm>
          <a:prstGeom prst="rect">
            <a:avLst/>
          </a:prstGeom>
          <a:scene3d>
            <a:camera prst="perspectiveContrastingLeftFacing"/>
            <a:lightRig rig="threePt" dir="t"/>
          </a:scene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144000" cy="274320"/>
          </a:xfrm>
          <a:prstGeom prst="rect">
            <a:avLst/>
          </a:prstGeom>
          <a:noFill/>
          <a:ln/>
        </p:spPr>
        <p:txBody>
          <a:bodyPr wrap="square" lIns="0" tIns="0" rIns="0" bIns="0" rtlCol="0" anchor="t"/>
          <a:lstStyle/>
          <a:p>
            <a:pPr marL="0" indent="0">
              <a:buNone/>
            </a:pPr>
            <a:r>
              <a:rPr lang="en-US" sz="1200" b="1" kern="0" spc="100" dirty="0">
                <a:solidFill>
                  <a:srgbClr val="0F766E"/>
                </a:solidFill>
                <a:latin typeface="Segoe UI" pitchFamily="34" charset="0"/>
                <a:ea typeface="Segoe UI" pitchFamily="34" charset="-122"/>
                <a:cs typeface="Segoe UI" pitchFamily="34" charset="-120"/>
              </a:rPr>
              <a:t>02  DATA QUALITY</a:t>
            </a:r>
            <a:endParaRPr lang="en-US" sz="1200" dirty="0"/>
          </a:p>
        </p:txBody>
      </p:sp>
      <p:sp>
        <p:nvSpPr>
          <p:cNvPr id="3" name="Text 1"/>
          <p:cNvSpPr/>
          <p:nvPr/>
        </p:nvSpPr>
        <p:spPr>
          <a:xfrm>
            <a:off x="566928" y="713232"/>
            <a:ext cx="11064240" cy="640080"/>
          </a:xfrm>
          <a:prstGeom prst="rect">
            <a:avLst/>
          </a:prstGeom>
          <a:noFill/>
          <a:ln/>
        </p:spPr>
        <p:txBody>
          <a:bodyPr wrap="square" lIns="0" tIns="0" rIns="0" bIns="0" rtlCol="0" anchor="t"/>
          <a:lstStyle/>
          <a:p>
            <a:pPr marL="0" indent="0">
              <a:buNone/>
            </a:pPr>
            <a:r>
              <a:rPr lang="en-US" sz="2800" b="1" dirty="0">
                <a:solidFill>
                  <a:srgbClr val="1D3557"/>
                </a:solidFill>
                <a:latin typeface="Segoe UI" pitchFamily="34" charset="0"/>
                <a:ea typeface="Segoe UI" pitchFamily="34" charset="-122"/>
                <a:cs typeface="Segoe UI" pitchFamily="34" charset="-120"/>
              </a:rPr>
              <a:t>Cleaning fixed what it could; three issues stay open</a:t>
            </a:r>
            <a:endParaRPr lang="en-US" sz="2800" dirty="0"/>
          </a:p>
        </p:txBody>
      </p:sp>
      <p:sp>
        <p:nvSpPr>
          <p:cNvPr id="4" name="Shape 2"/>
          <p:cNvSpPr/>
          <p:nvPr/>
        </p:nvSpPr>
        <p:spPr>
          <a:xfrm>
            <a:off x="566928" y="1691640"/>
            <a:ext cx="2743200" cy="731520"/>
          </a:xfrm>
          <a:prstGeom prst="chevron">
            <a:avLst/>
          </a:prstGeom>
          <a:solidFill>
            <a:srgbClr val="1D3557"/>
          </a:solidFill>
          <a:ln w="12700">
            <a:solidFill>
              <a:srgbClr val="FFFFFF"/>
            </a:solidFill>
            <a:prstDash val="solid"/>
          </a:ln>
        </p:spPr>
        <p:txBody>
          <a:bodyPr/>
          <a:lstStyle/>
          <a:p>
            <a:endParaRPr lang="en-US"/>
          </a:p>
        </p:txBody>
      </p:sp>
      <p:sp>
        <p:nvSpPr>
          <p:cNvPr id="5" name="Text 3"/>
          <p:cNvSpPr/>
          <p:nvPr/>
        </p:nvSpPr>
        <p:spPr>
          <a:xfrm>
            <a:off x="932688" y="1691640"/>
            <a:ext cx="210312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  Preserve</a:t>
            </a:r>
            <a:endParaRPr lang="en-US" sz="1500" dirty="0"/>
          </a:p>
        </p:txBody>
      </p:sp>
      <p:sp>
        <p:nvSpPr>
          <p:cNvPr id="6" name="Shape 4"/>
          <p:cNvSpPr/>
          <p:nvPr/>
        </p:nvSpPr>
        <p:spPr>
          <a:xfrm>
            <a:off x="3355848" y="1691640"/>
            <a:ext cx="2743200" cy="731520"/>
          </a:xfrm>
          <a:prstGeom prst="chevron">
            <a:avLst/>
          </a:prstGeom>
          <a:solidFill>
            <a:srgbClr val="1D3557"/>
          </a:solidFill>
          <a:ln w="12700">
            <a:solidFill>
              <a:srgbClr val="FFFFFF"/>
            </a:solidFill>
            <a:prstDash val="solid"/>
          </a:ln>
        </p:spPr>
        <p:txBody>
          <a:bodyPr/>
          <a:lstStyle/>
          <a:p>
            <a:endParaRPr lang="en-US"/>
          </a:p>
        </p:txBody>
      </p:sp>
      <p:sp>
        <p:nvSpPr>
          <p:cNvPr id="7" name="Text 5"/>
          <p:cNvSpPr/>
          <p:nvPr/>
        </p:nvSpPr>
        <p:spPr>
          <a:xfrm>
            <a:off x="3721608" y="1691640"/>
            <a:ext cx="210312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  Inspect</a:t>
            </a:r>
            <a:endParaRPr lang="en-US" sz="1500" dirty="0"/>
          </a:p>
        </p:txBody>
      </p:sp>
      <p:sp>
        <p:nvSpPr>
          <p:cNvPr id="8" name="Shape 6"/>
          <p:cNvSpPr/>
          <p:nvPr/>
        </p:nvSpPr>
        <p:spPr>
          <a:xfrm>
            <a:off x="6144768" y="1691640"/>
            <a:ext cx="2743200" cy="731520"/>
          </a:xfrm>
          <a:prstGeom prst="chevron">
            <a:avLst/>
          </a:prstGeom>
          <a:solidFill>
            <a:srgbClr val="1D3557"/>
          </a:solidFill>
          <a:ln w="12700">
            <a:solidFill>
              <a:srgbClr val="FFFFFF"/>
            </a:solidFill>
            <a:prstDash val="solid"/>
          </a:ln>
        </p:spPr>
        <p:txBody>
          <a:bodyPr/>
          <a:lstStyle/>
          <a:p>
            <a:endParaRPr lang="en-US"/>
          </a:p>
        </p:txBody>
      </p:sp>
      <p:sp>
        <p:nvSpPr>
          <p:cNvPr id="9" name="Text 7"/>
          <p:cNvSpPr/>
          <p:nvPr/>
        </p:nvSpPr>
        <p:spPr>
          <a:xfrm>
            <a:off x="6510528" y="1691640"/>
            <a:ext cx="210312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3  Treat</a:t>
            </a:r>
            <a:endParaRPr lang="en-US" sz="1500" dirty="0"/>
          </a:p>
        </p:txBody>
      </p:sp>
      <p:sp>
        <p:nvSpPr>
          <p:cNvPr id="10" name="Shape 8"/>
          <p:cNvSpPr/>
          <p:nvPr/>
        </p:nvSpPr>
        <p:spPr>
          <a:xfrm>
            <a:off x="8933688" y="1691640"/>
            <a:ext cx="2743200" cy="731520"/>
          </a:xfrm>
          <a:prstGeom prst="chevron">
            <a:avLst/>
          </a:prstGeom>
          <a:solidFill>
            <a:srgbClr val="0F766E"/>
          </a:solidFill>
          <a:ln w="12700">
            <a:solidFill>
              <a:srgbClr val="FFFFFF"/>
            </a:solidFill>
            <a:prstDash val="solid"/>
          </a:ln>
        </p:spPr>
        <p:txBody>
          <a:bodyPr/>
          <a:lstStyle/>
          <a:p>
            <a:endParaRPr lang="en-US"/>
          </a:p>
        </p:txBody>
      </p:sp>
      <p:sp>
        <p:nvSpPr>
          <p:cNvPr id="11" name="Text 9"/>
          <p:cNvSpPr/>
          <p:nvPr/>
        </p:nvSpPr>
        <p:spPr>
          <a:xfrm>
            <a:off x="9299448" y="1691640"/>
            <a:ext cx="210312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4  Recheck</a:t>
            </a:r>
            <a:endParaRPr lang="en-US" sz="1500" dirty="0"/>
          </a:p>
        </p:txBody>
      </p:sp>
      <p:sp>
        <p:nvSpPr>
          <p:cNvPr id="12" name="Shape 10"/>
          <p:cNvSpPr/>
          <p:nvPr/>
        </p:nvSpPr>
        <p:spPr>
          <a:xfrm>
            <a:off x="566928" y="2926080"/>
            <a:ext cx="3575304" cy="2148840"/>
          </a:xfrm>
          <a:prstGeom prst="rect">
            <a:avLst/>
          </a:prstGeom>
          <a:solidFill>
            <a:srgbClr val="FFFFFF"/>
          </a:solidFill>
          <a:ln w="12700">
            <a:solidFill>
              <a:srgbClr val="E2E8F0"/>
            </a:solidFill>
            <a:prstDash val="solid"/>
          </a:ln>
        </p:spPr>
        <p:txBody>
          <a:bodyPr/>
          <a:lstStyle/>
          <a:p>
            <a:endParaRPr lang="en-US"/>
          </a:p>
        </p:txBody>
      </p:sp>
      <p:sp>
        <p:nvSpPr>
          <p:cNvPr id="13" name="Shape 11"/>
          <p:cNvSpPr/>
          <p:nvPr/>
        </p:nvSpPr>
        <p:spPr>
          <a:xfrm>
            <a:off x="566928" y="2926080"/>
            <a:ext cx="3575304" cy="54864"/>
          </a:xfrm>
          <a:prstGeom prst="rect">
            <a:avLst/>
          </a:prstGeom>
          <a:solidFill>
            <a:srgbClr val="A76117"/>
          </a:solidFill>
          <a:ln w="12700">
            <a:solidFill>
              <a:srgbClr val="A76117"/>
            </a:solidFill>
            <a:prstDash val="solid"/>
          </a:ln>
        </p:spPr>
        <p:txBody>
          <a:bodyPr/>
          <a:lstStyle/>
          <a:p>
            <a:endParaRPr lang="en-US"/>
          </a:p>
        </p:txBody>
      </p:sp>
      <p:sp>
        <p:nvSpPr>
          <p:cNvPr id="14" name="Text 12"/>
          <p:cNvSpPr/>
          <p:nvPr/>
        </p:nvSpPr>
        <p:spPr>
          <a:xfrm>
            <a:off x="841248" y="3154680"/>
            <a:ext cx="3017520" cy="822960"/>
          </a:xfrm>
          <a:prstGeom prst="rect">
            <a:avLst/>
          </a:prstGeom>
          <a:noFill/>
          <a:ln/>
        </p:spPr>
        <p:txBody>
          <a:bodyPr wrap="square" lIns="0" tIns="0" rIns="0" bIns="0" rtlCol="0" anchor="t"/>
          <a:lstStyle/>
          <a:p>
            <a:pPr marL="0" indent="0">
              <a:buNone/>
            </a:pPr>
            <a:r>
              <a:rPr lang="en-US" sz="5400" b="1" dirty="0">
                <a:solidFill>
                  <a:srgbClr val="A76117"/>
                </a:solidFill>
                <a:latin typeface="Segoe UI" pitchFamily="34" charset="0"/>
                <a:ea typeface="Segoe UI" pitchFamily="34" charset="-122"/>
                <a:cs typeface="Segoe UI" pitchFamily="34" charset="-120"/>
              </a:rPr>
              <a:t>54</a:t>
            </a:r>
            <a:endParaRPr lang="en-US" sz="5400" dirty="0"/>
          </a:p>
        </p:txBody>
      </p:sp>
      <p:sp>
        <p:nvSpPr>
          <p:cNvPr id="15" name="Text 13"/>
          <p:cNvSpPr/>
          <p:nvPr/>
        </p:nvSpPr>
        <p:spPr>
          <a:xfrm>
            <a:off x="841248" y="4023360"/>
            <a:ext cx="3108960" cy="365760"/>
          </a:xfrm>
          <a:prstGeom prst="rect">
            <a:avLst/>
          </a:prstGeom>
          <a:noFill/>
          <a:ln/>
        </p:spPr>
        <p:txBody>
          <a:bodyPr wrap="square" lIns="0" tIns="0" rIns="0" bIns="0" rtlCol="0" anchor="t"/>
          <a:lstStyle/>
          <a:p>
            <a:pPr marL="0" indent="0">
              <a:buNone/>
            </a:pPr>
            <a:r>
              <a:rPr lang="en-US" sz="1500" b="1" dirty="0">
                <a:solidFill>
                  <a:srgbClr val="1D3557"/>
                </a:solidFill>
                <a:latin typeface="Segoe UI" pitchFamily="34" charset="0"/>
                <a:ea typeface="Segoe UI" pitchFamily="34" charset="-122"/>
                <a:cs typeface="Segoe UI" pitchFamily="34" charset="-120"/>
              </a:rPr>
              <a:t>zero-amount purchases</a:t>
            </a:r>
            <a:endParaRPr lang="en-US" sz="1500" dirty="0"/>
          </a:p>
        </p:txBody>
      </p:sp>
      <p:sp>
        <p:nvSpPr>
          <p:cNvPr id="16" name="Text 14"/>
          <p:cNvSpPr/>
          <p:nvPr/>
        </p:nvSpPr>
        <p:spPr>
          <a:xfrm>
            <a:off x="841248" y="4434840"/>
            <a:ext cx="3108960" cy="457200"/>
          </a:xfrm>
          <a:prstGeom prst="rect">
            <a:avLst/>
          </a:prstGeom>
          <a:noFill/>
          <a:ln/>
        </p:spPr>
        <p:txBody>
          <a:bodyPr wrap="square" lIns="0" tIns="0" rIns="0" bIns="0" rtlCol="0" anchor="t"/>
          <a:lstStyle/>
          <a:p>
            <a:pPr marL="0" indent="0">
              <a:buNone/>
            </a:pPr>
            <a:r>
              <a:rPr lang="en-US" sz="1200" dirty="0">
                <a:solidFill>
                  <a:srgbClr val="475569"/>
                </a:solidFill>
                <a:latin typeface="Segoe UI" pitchFamily="34" charset="0"/>
                <a:ea typeface="Segoe UI" pitchFamily="34" charset="-122"/>
                <a:cs typeface="Segoe UI" pitchFamily="34" charset="-120"/>
              </a:rPr>
              <a:t>kept; meaning not confirmed</a:t>
            </a:r>
            <a:endParaRPr lang="en-US" sz="1200" dirty="0"/>
          </a:p>
        </p:txBody>
      </p:sp>
      <p:sp>
        <p:nvSpPr>
          <p:cNvPr id="17" name="Shape 15"/>
          <p:cNvSpPr/>
          <p:nvPr/>
        </p:nvSpPr>
        <p:spPr>
          <a:xfrm>
            <a:off x="4379976" y="2926080"/>
            <a:ext cx="3575304" cy="2148840"/>
          </a:xfrm>
          <a:prstGeom prst="rect">
            <a:avLst/>
          </a:prstGeom>
          <a:solidFill>
            <a:srgbClr val="FFFFFF"/>
          </a:solidFill>
          <a:ln w="12700">
            <a:solidFill>
              <a:srgbClr val="E2E8F0"/>
            </a:solidFill>
            <a:prstDash val="solid"/>
          </a:ln>
        </p:spPr>
        <p:txBody>
          <a:bodyPr/>
          <a:lstStyle/>
          <a:p>
            <a:endParaRPr lang="en-US"/>
          </a:p>
        </p:txBody>
      </p:sp>
      <p:sp>
        <p:nvSpPr>
          <p:cNvPr id="18" name="Shape 16"/>
          <p:cNvSpPr/>
          <p:nvPr/>
        </p:nvSpPr>
        <p:spPr>
          <a:xfrm>
            <a:off x="4379976" y="2926080"/>
            <a:ext cx="3575304" cy="54864"/>
          </a:xfrm>
          <a:prstGeom prst="rect">
            <a:avLst/>
          </a:prstGeom>
          <a:solidFill>
            <a:srgbClr val="1D3557"/>
          </a:solidFill>
          <a:ln w="12700">
            <a:solidFill>
              <a:srgbClr val="1D3557"/>
            </a:solidFill>
            <a:prstDash val="solid"/>
          </a:ln>
        </p:spPr>
        <p:txBody>
          <a:bodyPr/>
          <a:lstStyle/>
          <a:p>
            <a:endParaRPr lang="en-US"/>
          </a:p>
        </p:txBody>
      </p:sp>
      <p:sp>
        <p:nvSpPr>
          <p:cNvPr id="19" name="Text 17"/>
          <p:cNvSpPr/>
          <p:nvPr/>
        </p:nvSpPr>
        <p:spPr>
          <a:xfrm>
            <a:off x="4654296" y="3154680"/>
            <a:ext cx="3017520" cy="822960"/>
          </a:xfrm>
          <a:prstGeom prst="rect">
            <a:avLst/>
          </a:prstGeom>
          <a:noFill/>
          <a:ln/>
        </p:spPr>
        <p:txBody>
          <a:bodyPr wrap="square" lIns="0" tIns="0" rIns="0" bIns="0" rtlCol="0" anchor="t"/>
          <a:lstStyle/>
          <a:p>
            <a:pPr marL="0" indent="0">
              <a:buNone/>
            </a:pPr>
            <a:r>
              <a:rPr lang="en-US" sz="5400" b="1" dirty="0">
                <a:solidFill>
                  <a:srgbClr val="1D3557"/>
                </a:solidFill>
                <a:latin typeface="Segoe UI" pitchFamily="34" charset="0"/>
                <a:ea typeface="Segoe UI" pitchFamily="34" charset="-122"/>
                <a:cs typeface="Segoe UI" pitchFamily="34" charset="-120"/>
              </a:rPr>
              <a:t>336</a:t>
            </a:r>
            <a:endParaRPr lang="en-US" sz="5400" dirty="0"/>
          </a:p>
        </p:txBody>
      </p:sp>
      <p:sp>
        <p:nvSpPr>
          <p:cNvPr id="20" name="Text 18"/>
          <p:cNvSpPr/>
          <p:nvPr/>
        </p:nvSpPr>
        <p:spPr>
          <a:xfrm>
            <a:off x="4654296" y="4023360"/>
            <a:ext cx="3108960" cy="365760"/>
          </a:xfrm>
          <a:prstGeom prst="rect">
            <a:avLst/>
          </a:prstGeom>
          <a:noFill/>
          <a:ln/>
        </p:spPr>
        <p:txBody>
          <a:bodyPr wrap="square" lIns="0" tIns="0" rIns="0" bIns="0" rtlCol="0" anchor="t"/>
          <a:lstStyle/>
          <a:p>
            <a:pPr marL="0" indent="0">
              <a:buNone/>
            </a:pPr>
            <a:r>
              <a:rPr lang="en-US" sz="1500" b="1" dirty="0">
                <a:solidFill>
                  <a:srgbClr val="1D3557"/>
                </a:solidFill>
                <a:latin typeface="Segoe UI" pitchFamily="34" charset="0"/>
                <a:ea typeface="Segoe UI" pitchFamily="34" charset="-122"/>
                <a:cs typeface="Segoe UI" pitchFamily="34" charset="-120"/>
              </a:rPr>
              <a:t>transaction IDs not in profiles</a:t>
            </a:r>
            <a:endParaRPr lang="en-US" sz="1500" dirty="0"/>
          </a:p>
        </p:txBody>
      </p:sp>
      <p:sp>
        <p:nvSpPr>
          <p:cNvPr id="21" name="Text 19"/>
          <p:cNvSpPr/>
          <p:nvPr/>
        </p:nvSpPr>
        <p:spPr>
          <a:xfrm>
            <a:off x="4654296" y="4434840"/>
            <a:ext cx="3108960" cy="457200"/>
          </a:xfrm>
          <a:prstGeom prst="rect">
            <a:avLst/>
          </a:prstGeom>
          <a:noFill/>
          <a:ln/>
        </p:spPr>
        <p:txBody>
          <a:bodyPr wrap="square" lIns="0" tIns="0" rIns="0" bIns="0" rtlCol="0" anchor="t"/>
          <a:lstStyle/>
          <a:p>
            <a:pPr marL="0" indent="0">
              <a:buNone/>
            </a:pPr>
            <a:r>
              <a:rPr lang="en-US" sz="1200" dirty="0">
                <a:solidFill>
                  <a:srgbClr val="475569"/>
                </a:solidFill>
                <a:latin typeface="Segoe UI" pitchFamily="34" charset="0"/>
                <a:ea typeface="Segoe UI" pitchFamily="34" charset="-122"/>
                <a:cs typeface="Segoe UI" pitchFamily="34" charset="-120"/>
              </a:rPr>
              <a:t>social side: 336 too; 184 on both lists</a:t>
            </a:r>
            <a:endParaRPr lang="en-US" sz="1200" dirty="0"/>
          </a:p>
        </p:txBody>
      </p:sp>
      <p:sp>
        <p:nvSpPr>
          <p:cNvPr id="22" name="Shape 20"/>
          <p:cNvSpPr/>
          <p:nvPr/>
        </p:nvSpPr>
        <p:spPr>
          <a:xfrm>
            <a:off x="8193024" y="2926080"/>
            <a:ext cx="3575304" cy="2148840"/>
          </a:xfrm>
          <a:prstGeom prst="rect">
            <a:avLst/>
          </a:prstGeom>
          <a:solidFill>
            <a:srgbClr val="FFFFFF"/>
          </a:solidFill>
          <a:ln w="12700">
            <a:solidFill>
              <a:srgbClr val="E2E8F0"/>
            </a:solidFill>
            <a:prstDash val="solid"/>
          </a:ln>
        </p:spPr>
        <p:txBody>
          <a:bodyPr/>
          <a:lstStyle/>
          <a:p>
            <a:endParaRPr lang="en-US"/>
          </a:p>
        </p:txBody>
      </p:sp>
      <p:sp>
        <p:nvSpPr>
          <p:cNvPr id="23" name="Shape 21"/>
          <p:cNvSpPr/>
          <p:nvPr/>
        </p:nvSpPr>
        <p:spPr>
          <a:xfrm>
            <a:off x="8193024" y="2926080"/>
            <a:ext cx="3575304" cy="54864"/>
          </a:xfrm>
          <a:prstGeom prst="rect">
            <a:avLst/>
          </a:prstGeom>
          <a:solidFill>
            <a:srgbClr val="A76117"/>
          </a:solidFill>
          <a:ln w="12700">
            <a:solidFill>
              <a:srgbClr val="A76117"/>
            </a:solidFill>
            <a:prstDash val="solid"/>
          </a:ln>
        </p:spPr>
        <p:txBody>
          <a:bodyPr/>
          <a:lstStyle/>
          <a:p>
            <a:endParaRPr lang="en-US"/>
          </a:p>
        </p:txBody>
      </p:sp>
      <p:sp>
        <p:nvSpPr>
          <p:cNvPr id="24" name="Text 22"/>
          <p:cNvSpPr/>
          <p:nvPr/>
        </p:nvSpPr>
        <p:spPr>
          <a:xfrm>
            <a:off x="8467344" y="3154680"/>
            <a:ext cx="3017520" cy="822960"/>
          </a:xfrm>
          <a:prstGeom prst="rect">
            <a:avLst/>
          </a:prstGeom>
          <a:noFill/>
          <a:ln/>
        </p:spPr>
        <p:txBody>
          <a:bodyPr wrap="square" lIns="0" tIns="0" rIns="0" bIns="0" rtlCol="0" anchor="t"/>
          <a:lstStyle/>
          <a:p>
            <a:pPr marL="0" indent="0">
              <a:buNone/>
            </a:pPr>
            <a:r>
              <a:rPr lang="en-US" sz="5400" b="1" dirty="0">
                <a:solidFill>
                  <a:srgbClr val="A76117"/>
                </a:solidFill>
                <a:latin typeface="Segoe UI" pitchFamily="34" charset="0"/>
                <a:ea typeface="Segoe UI" pitchFamily="34" charset="-122"/>
                <a:cs typeface="Segoe UI" pitchFamily="34" charset="-120"/>
              </a:rPr>
              <a:t>420</a:t>
            </a:r>
            <a:endParaRPr lang="en-US" sz="5400" dirty="0"/>
          </a:p>
        </p:txBody>
      </p:sp>
      <p:sp>
        <p:nvSpPr>
          <p:cNvPr id="25" name="Text 23"/>
          <p:cNvSpPr/>
          <p:nvPr/>
        </p:nvSpPr>
        <p:spPr>
          <a:xfrm>
            <a:off x="8467344" y="4023360"/>
            <a:ext cx="3108960" cy="365760"/>
          </a:xfrm>
          <a:prstGeom prst="rect">
            <a:avLst/>
          </a:prstGeom>
          <a:noFill/>
          <a:ln/>
        </p:spPr>
        <p:txBody>
          <a:bodyPr wrap="square" lIns="0" tIns="0" rIns="0" bIns="0" rtlCol="0" anchor="t"/>
          <a:lstStyle/>
          <a:p>
            <a:pPr marL="0" indent="0">
              <a:buNone/>
            </a:pPr>
            <a:r>
              <a:rPr lang="en-US" sz="1500" b="1" dirty="0">
                <a:solidFill>
                  <a:srgbClr val="1D3557"/>
                </a:solidFill>
                <a:latin typeface="Segoe UI" pitchFamily="34" charset="0"/>
                <a:ea typeface="Segoe UI" pitchFamily="34" charset="-122"/>
                <a:cs typeface="Segoe UI" pitchFamily="34" charset="-120"/>
              </a:rPr>
              <a:t>purchases dated before signup</a:t>
            </a:r>
            <a:endParaRPr lang="en-US" sz="1500" dirty="0"/>
          </a:p>
        </p:txBody>
      </p:sp>
      <p:sp>
        <p:nvSpPr>
          <p:cNvPr id="26" name="Text 24"/>
          <p:cNvSpPr/>
          <p:nvPr/>
        </p:nvSpPr>
        <p:spPr>
          <a:xfrm>
            <a:off x="8467344" y="4434840"/>
            <a:ext cx="3108960" cy="457200"/>
          </a:xfrm>
          <a:prstGeom prst="rect">
            <a:avLst/>
          </a:prstGeom>
          <a:noFill/>
          <a:ln/>
        </p:spPr>
        <p:txBody>
          <a:bodyPr wrap="square" lIns="0" tIns="0" rIns="0" bIns="0" rtlCol="0" anchor="t"/>
          <a:lstStyle/>
          <a:p>
            <a:pPr marL="0" indent="0">
              <a:buNone/>
            </a:pPr>
            <a:r>
              <a:rPr lang="en-US" sz="1200" dirty="0">
                <a:solidFill>
                  <a:srgbClr val="475569"/>
                </a:solidFill>
                <a:latin typeface="Segoe UI" pitchFamily="34" charset="0"/>
                <a:ea typeface="Segoe UI" pitchFamily="34" charset="-122"/>
                <a:cs typeface="Segoe UI" pitchFamily="34" charset="-120"/>
              </a:rPr>
              <a:t>within 309 of 1,306 matched customers</a:t>
            </a:r>
            <a:endParaRPr lang="en-US" sz="1200" dirty="0"/>
          </a:p>
        </p:txBody>
      </p:sp>
      <p:sp>
        <p:nvSpPr>
          <p:cNvPr id="27" name="Text 25"/>
          <p:cNvSpPr/>
          <p:nvPr/>
        </p:nvSpPr>
        <p:spPr>
          <a:xfrm>
            <a:off x="566928" y="5303520"/>
            <a:ext cx="11064240" cy="548640"/>
          </a:xfrm>
          <a:prstGeom prst="rect">
            <a:avLst/>
          </a:prstGeom>
          <a:noFill/>
          <a:ln/>
        </p:spPr>
        <p:txBody>
          <a:bodyPr wrap="square" lIns="0" tIns="0" rIns="0" bIns="0" rtlCol="0" anchor="t"/>
          <a:lstStyle/>
          <a:p>
            <a:pPr marL="0" indent="0">
              <a:buNone/>
            </a:pPr>
            <a:r>
              <a:rPr lang="en-US" sz="1100" dirty="0">
                <a:solidFill>
                  <a:srgbClr val="475569"/>
                </a:solidFill>
                <a:latin typeface="Segoe UI" pitchFamily="34" charset="0"/>
                <a:ea typeface="Segoe UI" pitchFamily="34" charset="-122"/>
                <a:cs typeface="Segoe UI" pitchFamily="34" charset="-120"/>
              </a:rPr>
              <a:t>Raw files: 3,200 rows each. Cleaned: 2,378 profiles, 2,420 purchases, 2,411 social events. No blank cells or repeated rows remain. Some business facts remain uncertain.</a:t>
            </a:r>
            <a:endParaRPr lang="en-US" sz="1100" dirty="0"/>
          </a:p>
        </p:txBody>
      </p:sp>
      <p:sp>
        <p:nvSpPr>
          <p:cNvPr id="28" name="Shape 26"/>
          <p:cNvSpPr/>
          <p:nvPr/>
        </p:nvSpPr>
        <p:spPr>
          <a:xfrm>
            <a:off x="566928" y="6373368"/>
            <a:ext cx="11064240" cy="0"/>
          </a:xfrm>
          <a:prstGeom prst="line">
            <a:avLst/>
          </a:prstGeom>
          <a:noFill/>
          <a:ln w="12700">
            <a:solidFill>
              <a:srgbClr val="E2E8F0"/>
            </a:solidFill>
            <a:prstDash val="solid"/>
          </a:ln>
        </p:spPr>
        <p:txBody>
          <a:bodyPr/>
          <a:lstStyle/>
          <a:p>
            <a:endParaRPr lang="en-US"/>
          </a:p>
        </p:txBody>
      </p:sp>
      <p:sp>
        <p:nvSpPr>
          <p:cNvPr id="29" name="Text 27"/>
          <p:cNvSpPr/>
          <p:nvPr/>
        </p:nvSpPr>
        <p:spPr>
          <a:xfrm>
            <a:off x="566928" y="6446520"/>
            <a:ext cx="4114800" cy="22860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FINMARK  |  TEAM 3  |  MO-IT162</a:t>
            </a:r>
            <a:endParaRPr lang="en-US" sz="1000" dirty="0"/>
          </a:p>
        </p:txBody>
      </p:sp>
      <p:sp>
        <p:nvSpPr>
          <p:cNvPr id="30" name="Text 28"/>
          <p:cNvSpPr/>
          <p:nvPr/>
        </p:nvSpPr>
        <p:spPr>
          <a:xfrm>
            <a:off x="4206240" y="6446520"/>
            <a:ext cx="6583680"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Raw + cleaned CSVs | independent verification</a:t>
            </a:r>
            <a:endParaRPr lang="en-US" sz="1000" dirty="0"/>
          </a:p>
        </p:txBody>
      </p:sp>
      <p:sp>
        <p:nvSpPr>
          <p:cNvPr id="31" name="Text 29"/>
          <p:cNvSpPr/>
          <p:nvPr/>
        </p:nvSpPr>
        <p:spPr>
          <a:xfrm>
            <a:off x="10881360" y="6446520"/>
            <a:ext cx="749808"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03 / 09</a:t>
            </a:r>
            <a:endParaRPr lang="en-US" sz="1000" dirty="0"/>
          </a:p>
        </p:txBody>
      </p:sp>
      <p:pic>
        <p:nvPicPr>
          <p:cNvPr id="36" name="Image 0" descr="C:\Users\ongoj\OneDrive\Documents\+MachineLearning\MFML\artifacts\finmark_visual_first_refinement\baseline\media\s1_Picture_25.png">
            <a:extLst>
              <a:ext uri="{FF2B5EF4-FFF2-40B4-BE49-F238E27FC236}">
                <a16:creationId xmlns:a16="http://schemas.microsoft.com/office/drawing/2014/main" id="{626DEB24-E897-0565-406B-55EE06FF3EAA}"/>
              </a:ext>
            </a:extLst>
          </p:cNvPr>
          <p:cNvPicPr>
            <a:picLocks noChangeAspect="1"/>
          </p:cNvPicPr>
          <p:nvPr/>
        </p:nvPicPr>
        <p:blipFill>
          <a:blip r:embed="rId3">
            <a:duotone>
              <a:prstClr val="black"/>
              <a:schemeClr val="accent1">
                <a:tint val="45000"/>
                <a:satMod val="400000"/>
              </a:schemeClr>
            </a:duotone>
            <a:alphaModFix amt="20000"/>
            <a:extLst>
              <a:ext uri="{BEBA8EAE-BF5A-486C-A8C5-ECC9F3942E4B}">
                <a14:imgProps xmlns:a14="http://schemas.microsoft.com/office/drawing/2010/main">
                  <a14:imgLayer r:embed="rId4">
                    <a14:imgEffect>
                      <a14:artisticCement/>
                    </a14:imgEffect>
                  </a14:imgLayer>
                </a14:imgProps>
              </a:ext>
            </a:extLst>
          </a:blip>
          <a:stretch>
            <a:fillRect/>
          </a:stretch>
        </p:blipFill>
        <p:spPr>
          <a:xfrm>
            <a:off x="2779778" y="310898"/>
            <a:ext cx="6291070" cy="6291070"/>
          </a:xfrm>
          <a:prstGeom prst="rect">
            <a:avLst/>
          </a:prstGeom>
          <a:scene3d>
            <a:camera prst="perspectiveContrastingLeftFacing"/>
            <a:lightRig rig="threePt" dir="t"/>
          </a:scene3d>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144000" cy="274320"/>
          </a:xfrm>
          <a:prstGeom prst="rect">
            <a:avLst/>
          </a:prstGeom>
          <a:noFill/>
          <a:ln/>
        </p:spPr>
        <p:txBody>
          <a:bodyPr wrap="square" lIns="0" tIns="0" rIns="0" bIns="0" rtlCol="0" anchor="t"/>
          <a:lstStyle/>
          <a:p>
            <a:pPr marL="0" indent="0">
              <a:buNone/>
            </a:pPr>
            <a:r>
              <a:rPr lang="en-US" sz="1200" b="1" kern="0" spc="100" dirty="0">
                <a:solidFill>
                  <a:srgbClr val="0F766E"/>
                </a:solidFill>
                <a:latin typeface="Segoe UI" pitchFamily="34" charset="0"/>
                <a:ea typeface="Segoe UI" pitchFamily="34" charset="-122"/>
                <a:cs typeface="Segoe UI" pitchFamily="34" charset="-120"/>
              </a:rPr>
              <a:t>03  EXPLORATORY ANALYSIS</a:t>
            </a:r>
            <a:endParaRPr lang="en-US" sz="1200" dirty="0"/>
          </a:p>
        </p:txBody>
      </p:sp>
      <p:sp>
        <p:nvSpPr>
          <p:cNvPr id="3" name="Text 1"/>
          <p:cNvSpPr/>
          <p:nvPr/>
        </p:nvSpPr>
        <p:spPr>
          <a:xfrm>
            <a:off x="566928" y="713232"/>
            <a:ext cx="11064240" cy="640080"/>
          </a:xfrm>
          <a:prstGeom prst="rect">
            <a:avLst/>
          </a:prstGeom>
          <a:noFill/>
          <a:ln/>
        </p:spPr>
        <p:txBody>
          <a:bodyPr wrap="square" lIns="0" tIns="0" rIns="0" bIns="0" rtlCol="0" anchor="t"/>
          <a:lstStyle/>
          <a:p>
            <a:pPr marL="0" indent="0">
              <a:buNone/>
            </a:pPr>
            <a:r>
              <a:rPr lang="en-US" sz="2800" b="1" dirty="0">
                <a:solidFill>
                  <a:srgbClr val="1D3557"/>
                </a:solidFill>
                <a:latin typeface="Segoe UI" pitchFamily="34" charset="0"/>
                <a:ea typeface="Segoe UI" pitchFamily="34" charset="-122"/>
                <a:cs typeface="Segoe UI" pitchFamily="34" charset="-120"/>
              </a:rPr>
              <a:t>Each question counted at its own unit</a:t>
            </a:r>
            <a:endParaRPr lang="en-US" sz="2800" dirty="0"/>
          </a:p>
        </p:txBody>
      </p:sp>
      <p:sp>
        <p:nvSpPr>
          <p:cNvPr id="4" name="Shape 2"/>
          <p:cNvSpPr/>
          <p:nvPr/>
        </p:nvSpPr>
        <p:spPr>
          <a:xfrm>
            <a:off x="566928" y="1691640"/>
            <a:ext cx="5394960" cy="1600200"/>
          </a:xfrm>
          <a:prstGeom prst="rect">
            <a:avLst/>
          </a:prstGeom>
          <a:solidFill>
            <a:srgbClr val="FFFFFF"/>
          </a:solidFill>
          <a:ln w="12700">
            <a:solidFill>
              <a:srgbClr val="E2E8F0"/>
            </a:solidFill>
            <a:prstDash val="solid"/>
          </a:ln>
        </p:spPr>
        <p:txBody>
          <a:bodyPr/>
          <a:lstStyle/>
          <a:p>
            <a:endParaRPr lang="en-US"/>
          </a:p>
        </p:txBody>
      </p:sp>
      <p:sp>
        <p:nvSpPr>
          <p:cNvPr id="5" name="Shape 3"/>
          <p:cNvSpPr/>
          <p:nvPr/>
        </p:nvSpPr>
        <p:spPr>
          <a:xfrm>
            <a:off x="566928" y="1691640"/>
            <a:ext cx="5394960" cy="54864"/>
          </a:xfrm>
          <a:prstGeom prst="rect">
            <a:avLst/>
          </a:prstGeom>
          <a:solidFill>
            <a:srgbClr val="1D3557"/>
          </a:solidFill>
          <a:ln w="12700">
            <a:solidFill>
              <a:srgbClr val="1D3557"/>
            </a:solidFill>
            <a:prstDash val="solid"/>
          </a:ln>
        </p:spPr>
        <p:txBody>
          <a:bodyPr/>
          <a:lstStyle/>
          <a:p>
            <a:endParaRPr lang="en-US"/>
          </a:p>
        </p:txBody>
      </p:sp>
      <p:sp>
        <p:nvSpPr>
          <p:cNvPr id="6" name="Shape 4"/>
          <p:cNvSpPr/>
          <p:nvPr/>
        </p:nvSpPr>
        <p:spPr>
          <a:xfrm>
            <a:off x="841248" y="1920240"/>
            <a:ext cx="1554480" cy="329184"/>
          </a:xfrm>
          <a:prstGeom prst="roundRect">
            <a:avLst>
              <a:gd name="adj" fmla="val 13889"/>
            </a:avLst>
          </a:prstGeom>
          <a:solidFill>
            <a:srgbClr val="1D3557"/>
          </a:solidFill>
          <a:ln w="12700">
            <a:solidFill>
              <a:srgbClr val="1D3557"/>
            </a:solidFill>
            <a:prstDash val="solid"/>
          </a:ln>
        </p:spPr>
        <p:txBody>
          <a:bodyPr/>
          <a:lstStyle/>
          <a:p>
            <a:endParaRPr lang="en-US"/>
          </a:p>
        </p:txBody>
      </p:sp>
      <p:sp>
        <p:nvSpPr>
          <p:cNvPr id="7" name="Text 5"/>
          <p:cNvSpPr/>
          <p:nvPr/>
        </p:nvSpPr>
        <p:spPr>
          <a:xfrm>
            <a:off x="841248" y="1920240"/>
            <a:ext cx="15544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Segoe UI" pitchFamily="34" charset="0"/>
                <a:ea typeface="Segoe UI" pitchFamily="34" charset="-122"/>
                <a:cs typeface="Segoe UI" pitchFamily="34" charset="-120"/>
              </a:rPr>
              <a:t>MONTH</a:t>
            </a:r>
            <a:endParaRPr lang="en-US" sz="1100" dirty="0"/>
          </a:p>
        </p:txBody>
      </p:sp>
      <p:sp>
        <p:nvSpPr>
          <p:cNvPr id="8" name="Text 6"/>
          <p:cNvSpPr/>
          <p:nvPr/>
        </p:nvSpPr>
        <p:spPr>
          <a:xfrm>
            <a:off x="841248" y="2377440"/>
            <a:ext cx="4846320" cy="411480"/>
          </a:xfrm>
          <a:prstGeom prst="rect">
            <a:avLst/>
          </a:prstGeom>
          <a:noFill/>
          <a:ln/>
        </p:spPr>
        <p:txBody>
          <a:bodyPr wrap="square" lIns="0" tIns="0" rIns="0" bIns="0" rtlCol="0" anchor="t"/>
          <a:lstStyle/>
          <a:p>
            <a:pPr marL="0" indent="0">
              <a:buNone/>
            </a:pPr>
            <a:r>
              <a:rPr lang="en-US" sz="1700" b="1" dirty="0">
                <a:solidFill>
                  <a:srgbClr val="1D3557"/>
                </a:solidFill>
                <a:latin typeface="Segoe UI" pitchFamily="34" charset="0"/>
                <a:ea typeface="Segoe UI" pitchFamily="34" charset="-122"/>
                <a:cs typeface="Segoe UI" pitchFamily="34" charset="-120"/>
              </a:rPr>
              <a:t>When were more purchases recorded?</a:t>
            </a:r>
            <a:endParaRPr lang="en-US" sz="1700" dirty="0"/>
          </a:p>
        </p:txBody>
      </p:sp>
      <p:sp>
        <p:nvSpPr>
          <p:cNvPr id="9" name="Text 7"/>
          <p:cNvSpPr/>
          <p:nvPr/>
        </p:nvSpPr>
        <p:spPr>
          <a:xfrm>
            <a:off x="841248" y="2788920"/>
            <a:ext cx="4846320" cy="274320"/>
          </a:xfrm>
          <a:prstGeom prst="rect">
            <a:avLst/>
          </a:prstGeom>
          <a:noFill/>
          <a:ln/>
        </p:spPr>
        <p:txBody>
          <a:bodyPr wrap="square" lIns="0" tIns="0" rIns="0" bIns="0" rtlCol="0" anchor="t"/>
          <a:lstStyle/>
          <a:p>
            <a:pPr marL="0" indent="0">
              <a:buNone/>
            </a:pPr>
            <a:r>
              <a:rPr lang="en-US" sz="1200" dirty="0">
                <a:solidFill>
                  <a:srgbClr val="475569"/>
                </a:solidFill>
                <a:latin typeface="Segoe UI" pitchFamily="34" charset="0"/>
                <a:ea typeface="Segoe UI" pitchFamily="34" charset="-122"/>
                <a:cs typeface="Segoe UI" pitchFamily="34" charset="-120"/>
              </a:rPr>
              <a:t>24 monthly counts</a:t>
            </a:r>
            <a:endParaRPr lang="en-US" sz="1200" dirty="0"/>
          </a:p>
        </p:txBody>
      </p:sp>
      <p:sp>
        <p:nvSpPr>
          <p:cNvPr id="10" name="Shape 8"/>
          <p:cNvSpPr/>
          <p:nvPr/>
        </p:nvSpPr>
        <p:spPr>
          <a:xfrm>
            <a:off x="6236208" y="1691640"/>
            <a:ext cx="5394960" cy="1600200"/>
          </a:xfrm>
          <a:prstGeom prst="rect">
            <a:avLst/>
          </a:prstGeom>
          <a:solidFill>
            <a:srgbClr val="FFFFFF"/>
          </a:solidFill>
          <a:ln w="12700">
            <a:solidFill>
              <a:srgbClr val="E2E8F0"/>
            </a:solidFill>
            <a:prstDash val="solid"/>
          </a:ln>
        </p:spPr>
        <p:txBody>
          <a:bodyPr/>
          <a:lstStyle/>
          <a:p>
            <a:endParaRPr lang="en-US"/>
          </a:p>
        </p:txBody>
      </p:sp>
      <p:sp>
        <p:nvSpPr>
          <p:cNvPr id="11" name="Shape 9"/>
          <p:cNvSpPr/>
          <p:nvPr/>
        </p:nvSpPr>
        <p:spPr>
          <a:xfrm>
            <a:off x="6236208" y="1691640"/>
            <a:ext cx="5394960" cy="54864"/>
          </a:xfrm>
          <a:prstGeom prst="rect">
            <a:avLst/>
          </a:prstGeom>
          <a:solidFill>
            <a:srgbClr val="1D3557"/>
          </a:solidFill>
          <a:ln w="12700">
            <a:solidFill>
              <a:srgbClr val="1D3557"/>
            </a:solidFill>
            <a:prstDash val="solid"/>
          </a:ln>
        </p:spPr>
        <p:txBody>
          <a:bodyPr/>
          <a:lstStyle/>
          <a:p>
            <a:endParaRPr lang="en-US"/>
          </a:p>
        </p:txBody>
      </p:sp>
      <p:sp>
        <p:nvSpPr>
          <p:cNvPr id="12" name="Shape 10"/>
          <p:cNvSpPr/>
          <p:nvPr/>
        </p:nvSpPr>
        <p:spPr>
          <a:xfrm>
            <a:off x="6510528" y="1920240"/>
            <a:ext cx="1554480" cy="329184"/>
          </a:xfrm>
          <a:prstGeom prst="roundRect">
            <a:avLst>
              <a:gd name="adj" fmla="val 13889"/>
            </a:avLst>
          </a:prstGeom>
          <a:solidFill>
            <a:srgbClr val="1D3557"/>
          </a:solidFill>
          <a:ln w="12700">
            <a:solidFill>
              <a:srgbClr val="1D3557"/>
            </a:solidFill>
            <a:prstDash val="solid"/>
          </a:ln>
        </p:spPr>
        <p:txBody>
          <a:bodyPr/>
          <a:lstStyle/>
          <a:p>
            <a:endParaRPr lang="en-US"/>
          </a:p>
        </p:txBody>
      </p:sp>
      <p:sp>
        <p:nvSpPr>
          <p:cNvPr id="13" name="Text 11"/>
          <p:cNvSpPr/>
          <p:nvPr/>
        </p:nvSpPr>
        <p:spPr>
          <a:xfrm>
            <a:off x="6510528" y="1920240"/>
            <a:ext cx="15544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Segoe UI" pitchFamily="34" charset="0"/>
                <a:ea typeface="Segoe UI" pitchFamily="34" charset="-122"/>
                <a:cs typeface="Segoe UI" pitchFamily="34" charset="-120"/>
              </a:rPr>
              <a:t>PURCHASE</a:t>
            </a:r>
            <a:endParaRPr lang="en-US" sz="1100" dirty="0"/>
          </a:p>
        </p:txBody>
      </p:sp>
      <p:sp>
        <p:nvSpPr>
          <p:cNvPr id="14" name="Text 12"/>
          <p:cNvSpPr/>
          <p:nvPr/>
        </p:nvSpPr>
        <p:spPr>
          <a:xfrm>
            <a:off x="6510528" y="2377440"/>
            <a:ext cx="4846320" cy="411480"/>
          </a:xfrm>
          <a:prstGeom prst="rect">
            <a:avLst/>
          </a:prstGeom>
          <a:noFill/>
          <a:ln/>
        </p:spPr>
        <p:txBody>
          <a:bodyPr wrap="square" lIns="0" tIns="0" rIns="0" bIns="0" rtlCol="0" anchor="t"/>
          <a:lstStyle/>
          <a:p>
            <a:pPr marL="0" indent="0">
              <a:buNone/>
            </a:pPr>
            <a:r>
              <a:rPr lang="en-US" sz="1700" b="1" dirty="0">
                <a:solidFill>
                  <a:srgbClr val="1D3557"/>
                </a:solidFill>
                <a:latin typeface="Segoe UI" pitchFamily="34" charset="0"/>
                <a:ea typeface="Segoe UI" pitchFamily="34" charset="-122"/>
                <a:cs typeface="Segoe UI" pitchFamily="34" charset="-120"/>
              </a:rPr>
              <a:t>Which products were purchased most?</a:t>
            </a:r>
            <a:endParaRPr lang="en-US" sz="1700" dirty="0"/>
          </a:p>
        </p:txBody>
      </p:sp>
      <p:sp>
        <p:nvSpPr>
          <p:cNvPr id="15" name="Text 13"/>
          <p:cNvSpPr/>
          <p:nvPr/>
        </p:nvSpPr>
        <p:spPr>
          <a:xfrm>
            <a:off x="6510528" y="2788920"/>
            <a:ext cx="4846320" cy="274320"/>
          </a:xfrm>
          <a:prstGeom prst="rect">
            <a:avLst/>
          </a:prstGeom>
          <a:noFill/>
          <a:ln/>
        </p:spPr>
        <p:txBody>
          <a:bodyPr wrap="square" lIns="0" tIns="0" rIns="0" bIns="0" rtlCol="0" anchor="t"/>
          <a:lstStyle/>
          <a:p>
            <a:pPr marL="0" indent="0">
              <a:buNone/>
            </a:pPr>
            <a:r>
              <a:rPr lang="en-US" sz="1200" dirty="0">
                <a:solidFill>
                  <a:srgbClr val="475569"/>
                </a:solidFill>
                <a:latin typeface="Segoe UI" pitchFamily="34" charset="0"/>
                <a:ea typeface="Segoe UI" pitchFamily="34" charset="-122"/>
                <a:cs typeface="Segoe UI" pitchFamily="34" charset="-120"/>
              </a:rPr>
              <a:t>5 product categories</a:t>
            </a:r>
            <a:endParaRPr lang="en-US" sz="1200" dirty="0"/>
          </a:p>
        </p:txBody>
      </p:sp>
      <p:sp>
        <p:nvSpPr>
          <p:cNvPr id="16" name="Shape 14"/>
          <p:cNvSpPr/>
          <p:nvPr/>
        </p:nvSpPr>
        <p:spPr>
          <a:xfrm>
            <a:off x="566928" y="3474720"/>
            <a:ext cx="5394960" cy="1600200"/>
          </a:xfrm>
          <a:prstGeom prst="rect">
            <a:avLst/>
          </a:prstGeom>
          <a:solidFill>
            <a:srgbClr val="FFFFFF"/>
          </a:solidFill>
          <a:ln w="12700">
            <a:solidFill>
              <a:srgbClr val="E2E8F0"/>
            </a:solidFill>
            <a:prstDash val="solid"/>
          </a:ln>
        </p:spPr>
        <p:txBody>
          <a:bodyPr/>
          <a:lstStyle/>
          <a:p>
            <a:endParaRPr lang="en-US"/>
          </a:p>
        </p:txBody>
      </p:sp>
      <p:sp>
        <p:nvSpPr>
          <p:cNvPr id="17" name="Shape 15"/>
          <p:cNvSpPr/>
          <p:nvPr/>
        </p:nvSpPr>
        <p:spPr>
          <a:xfrm>
            <a:off x="566928" y="3474720"/>
            <a:ext cx="5394960" cy="54864"/>
          </a:xfrm>
          <a:prstGeom prst="rect">
            <a:avLst/>
          </a:prstGeom>
          <a:solidFill>
            <a:srgbClr val="0F766E"/>
          </a:solidFill>
          <a:ln w="12700">
            <a:solidFill>
              <a:srgbClr val="0F766E"/>
            </a:solidFill>
            <a:prstDash val="solid"/>
          </a:ln>
        </p:spPr>
        <p:txBody>
          <a:bodyPr/>
          <a:lstStyle/>
          <a:p>
            <a:endParaRPr lang="en-US"/>
          </a:p>
        </p:txBody>
      </p:sp>
      <p:sp>
        <p:nvSpPr>
          <p:cNvPr id="18" name="Shape 16"/>
          <p:cNvSpPr/>
          <p:nvPr/>
        </p:nvSpPr>
        <p:spPr>
          <a:xfrm>
            <a:off x="841248" y="3703320"/>
            <a:ext cx="1554480" cy="329184"/>
          </a:xfrm>
          <a:prstGeom prst="roundRect">
            <a:avLst>
              <a:gd name="adj" fmla="val 13889"/>
            </a:avLst>
          </a:prstGeom>
          <a:solidFill>
            <a:srgbClr val="0F766E"/>
          </a:solidFill>
          <a:ln w="12700">
            <a:solidFill>
              <a:srgbClr val="0F766E"/>
            </a:solidFill>
            <a:prstDash val="solid"/>
          </a:ln>
        </p:spPr>
        <p:txBody>
          <a:bodyPr/>
          <a:lstStyle/>
          <a:p>
            <a:endParaRPr lang="en-US"/>
          </a:p>
        </p:txBody>
      </p:sp>
      <p:sp>
        <p:nvSpPr>
          <p:cNvPr id="19" name="Text 17"/>
          <p:cNvSpPr/>
          <p:nvPr/>
        </p:nvSpPr>
        <p:spPr>
          <a:xfrm>
            <a:off x="841248" y="3703320"/>
            <a:ext cx="15544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Segoe UI" pitchFamily="34" charset="0"/>
                <a:ea typeface="Segoe UI" pitchFamily="34" charset="-122"/>
                <a:cs typeface="Segoe UI" pitchFamily="34" charset="-120"/>
              </a:rPr>
              <a:t>CUSTOMER</a:t>
            </a:r>
            <a:endParaRPr lang="en-US" sz="1100" dirty="0"/>
          </a:p>
        </p:txBody>
      </p:sp>
      <p:sp>
        <p:nvSpPr>
          <p:cNvPr id="20" name="Text 18"/>
          <p:cNvSpPr/>
          <p:nvPr/>
        </p:nvSpPr>
        <p:spPr>
          <a:xfrm>
            <a:off x="841248" y="4160520"/>
            <a:ext cx="4846320" cy="411480"/>
          </a:xfrm>
          <a:prstGeom prst="rect">
            <a:avLst/>
          </a:prstGeom>
          <a:noFill/>
          <a:ln/>
        </p:spPr>
        <p:txBody>
          <a:bodyPr wrap="square" lIns="0" tIns="0" rIns="0" bIns="0" rtlCol="0" anchor="t"/>
          <a:lstStyle/>
          <a:p>
            <a:pPr marL="0" indent="0">
              <a:buNone/>
            </a:pPr>
            <a:r>
              <a:rPr lang="en-US" sz="1700" b="1" dirty="0">
                <a:solidFill>
                  <a:srgbClr val="1D3557"/>
                </a:solidFill>
                <a:latin typeface="Segoe UI" pitchFamily="34" charset="0"/>
                <a:ea typeface="Segoe UI" pitchFamily="34" charset="-122"/>
                <a:cs typeface="Segoe UI" pitchFamily="34" charset="-120"/>
              </a:rPr>
              <a:t>Did customer groups buy different products?</a:t>
            </a:r>
            <a:endParaRPr lang="en-US" sz="1700" dirty="0"/>
          </a:p>
        </p:txBody>
      </p:sp>
      <p:sp>
        <p:nvSpPr>
          <p:cNvPr id="21" name="Text 19"/>
          <p:cNvSpPr/>
          <p:nvPr/>
        </p:nvSpPr>
        <p:spPr>
          <a:xfrm>
            <a:off x="841248" y="4572000"/>
            <a:ext cx="4846320" cy="274320"/>
          </a:xfrm>
          <a:prstGeom prst="rect">
            <a:avLst/>
          </a:prstGeom>
          <a:noFill/>
          <a:ln/>
        </p:spPr>
        <p:txBody>
          <a:bodyPr wrap="square" lIns="0" tIns="0" rIns="0" bIns="0" rtlCol="0" anchor="t"/>
          <a:lstStyle/>
          <a:p>
            <a:pPr marL="0" indent="0">
              <a:buNone/>
            </a:pPr>
            <a:r>
              <a:rPr lang="en-US" sz="1200" dirty="0">
                <a:solidFill>
                  <a:srgbClr val="475569"/>
                </a:solidFill>
                <a:latin typeface="Segoe UI" pitchFamily="34" charset="0"/>
                <a:ea typeface="Segoe UI" pitchFamily="34" charset="-122"/>
                <a:cs typeface="Segoe UI" pitchFamily="34" charset="-120"/>
              </a:rPr>
              <a:t>one count per person</a:t>
            </a:r>
            <a:endParaRPr lang="en-US" sz="1200" dirty="0"/>
          </a:p>
        </p:txBody>
      </p:sp>
      <p:sp>
        <p:nvSpPr>
          <p:cNvPr id="22" name="Shape 20"/>
          <p:cNvSpPr/>
          <p:nvPr/>
        </p:nvSpPr>
        <p:spPr>
          <a:xfrm>
            <a:off x="6236208" y="3474720"/>
            <a:ext cx="5394960" cy="1600200"/>
          </a:xfrm>
          <a:prstGeom prst="rect">
            <a:avLst/>
          </a:prstGeom>
          <a:solidFill>
            <a:srgbClr val="FFFFFF"/>
          </a:solidFill>
          <a:ln w="12700">
            <a:solidFill>
              <a:srgbClr val="E2E8F0"/>
            </a:solidFill>
            <a:prstDash val="solid"/>
          </a:ln>
        </p:spPr>
        <p:txBody>
          <a:bodyPr/>
          <a:lstStyle/>
          <a:p>
            <a:endParaRPr lang="en-US"/>
          </a:p>
        </p:txBody>
      </p:sp>
      <p:sp>
        <p:nvSpPr>
          <p:cNvPr id="23" name="Shape 21"/>
          <p:cNvSpPr/>
          <p:nvPr/>
        </p:nvSpPr>
        <p:spPr>
          <a:xfrm>
            <a:off x="6236208" y="3474720"/>
            <a:ext cx="5394960" cy="54864"/>
          </a:xfrm>
          <a:prstGeom prst="rect">
            <a:avLst/>
          </a:prstGeom>
          <a:solidFill>
            <a:srgbClr val="0F766E"/>
          </a:solidFill>
          <a:ln w="12700">
            <a:solidFill>
              <a:srgbClr val="0F766E"/>
            </a:solidFill>
            <a:prstDash val="solid"/>
          </a:ln>
        </p:spPr>
        <p:txBody>
          <a:bodyPr/>
          <a:lstStyle/>
          <a:p>
            <a:endParaRPr lang="en-US"/>
          </a:p>
        </p:txBody>
      </p:sp>
      <p:sp>
        <p:nvSpPr>
          <p:cNvPr id="24" name="Shape 22"/>
          <p:cNvSpPr/>
          <p:nvPr/>
        </p:nvSpPr>
        <p:spPr>
          <a:xfrm>
            <a:off x="6510528" y="3703320"/>
            <a:ext cx="1554480" cy="329184"/>
          </a:xfrm>
          <a:prstGeom prst="roundRect">
            <a:avLst>
              <a:gd name="adj" fmla="val 13889"/>
            </a:avLst>
          </a:prstGeom>
          <a:solidFill>
            <a:srgbClr val="0F766E"/>
          </a:solidFill>
          <a:ln w="12700">
            <a:solidFill>
              <a:srgbClr val="0F766E"/>
            </a:solidFill>
            <a:prstDash val="solid"/>
          </a:ln>
        </p:spPr>
        <p:txBody>
          <a:bodyPr/>
          <a:lstStyle/>
          <a:p>
            <a:endParaRPr lang="en-US"/>
          </a:p>
        </p:txBody>
      </p:sp>
      <p:sp>
        <p:nvSpPr>
          <p:cNvPr id="25" name="Text 23"/>
          <p:cNvSpPr/>
          <p:nvPr/>
        </p:nvSpPr>
        <p:spPr>
          <a:xfrm>
            <a:off x="6510528" y="3703320"/>
            <a:ext cx="15544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Segoe UI" pitchFamily="34" charset="0"/>
                <a:ea typeface="Segoe UI" pitchFamily="34" charset="-122"/>
                <a:cs typeface="Segoe UI" pitchFamily="34" charset="-120"/>
              </a:rPr>
              <a:t>CUSTOMER</a:t>
            </a:r>
            <a:endParaRPr lang="en-US" sz="1100" dirty="0"/>
          </a:p>
        </p:txBody>
      </p:sp>
      <p:sp>
        <p:nvSpPr>
          <p:cNvPr id="26" name="Text 24"/>
          <p:cNvSpPr/>
          <p:nvPr/>
        </p:nvSpPr>
        <p:spPr>
          <a:xfrm>
            <a:off x="6510528" y="4160520"/>
            <a:ext cx="4846320" cy="411480"/>
          </a:xfrm>
          <a:prstGeom prst="rect">
            <a:avLst/>
          </a:prstGeom>
          <a:noFill/>
          <a:ln/>
        </p:spPr>
        <p:txBody>
          <a:bodyPr wrap="square" lIns="0" tIns="0" rIns="0" bIns="0" rtlCol="0" anchor="t"/>
          <a:lstStyle/>
          <a:p>
            <a:pPr marL="0" indent="0">
              <a:buNone/>
            </a:pPr>
            <a:r>
              <a:rPr lang="en-US" sz="1700" b="1" dirty="0">
                <a:solidFill>
                  <a:srgbClr val="1D3557"/>
                </a:solidFill>
                <a:latin typeface="Segoe UI" pitchFamily="34" charset="0"/>
                <a:ea typeface="Segoe UI" pitchFamily="34" charset="-122"/>
                <a:cs typeface="Segoe UI" pitchFamily="34" charset="-120"/>
              </a:rPr>
              <a:t>Do social posts track spending?</a:t>
            </a:r>
            <a:endParaRPr lang="en-US" sz="1700" dirty="0"/>
          </a:p>
        </p:txBody>
      </p:sp>
      <p:sp>
        <p:nvSpPr>
          <p:cNvPr id="27" name="Text 25"/>
          <p:cNvSpPr/>
          <p:nvPr/>
        </p:nvSpPr>
        <p:spPr>
          <a:xfrm>
            <a:off x="6510528" y="4572000"/>
            <a:ext cx="4846320" cy="274320"/>
          </a:xfrm>
          <a:prstGeom prst="rect">
            <a:avLst/>
          </a:prstGeom>
          <a:noFill/>
          <a:ln/>
        </p:spPr>
        <p:txBody>
          <a:bodyPr wrap="square" lIns="0" tIns="0" rIns="0" bIns="0" rtlCol="0" anchor="t"/>
          <a:lstStyle/>
          <a:p>
            <a:pPr marL="0" indent="0">
              <a:buNone/>
            </a:pPr>
            <a:r>
              <a:rPr lang="en-US" sz="1200" dirty="0">
                <a:solidFill>
                  <a:srgbClr val="475569"/>
                </a:solidFill>
                <a:latin typeface="Segoe UI" pitchFamily="34" charset="0"/>
                <a:ea typeface="Segoe UI" pitchFamily="34" charset="-122"/>
                <a:cs typeface="Segoe UI" pitchFamily="34" charset="-120"/>
              </a:rPr>
              <a:t>same-year customers only</a:t>
            </a:r>
            <a:endParaRPr lang="en-US" sz="1200" dirty="0"/>
          </a:p>
        </p:txBody>
      </p:sp>
      <p:sp>
        <p:nvSpPr>
          <p:cNvPr id="28" name="Shape 26"/>
          <p:cNvSpPr/>
          <p:nvPr/>
        </p:nvSpPr>
        <p:spPr>
          <a:xfrm>
            <a:off x="566928" y="5349240"/>
            <a:ext cx="11064240" cy="566928"/>
          </a:xfrm>
          <a:prstGeom prst="rect">
            <a:avLst/>
          </a:prstGeom>
          <a:solidFill>
            <a:srgbClr val="F4F8F7"/>
          </a:solidFill>
          <a:ln w="12700">
            <a:solidFill>
              <a:srgbClr val="F4F8F7"/>
            </a:solidFill>
            <a:prstDash val="solid"/>
          </a:ln>
        </p:spPr>
        <p:txBody>
          <a:bodyPr/>
          <a:lstStyle/>
          <a:p>
            <a:endParaRPr lang="en-US"/>
          </a:p>
        </p:txBody>
      </p:sp>
      <p:sp>
        <p:nvSpPr>
          <p:cNvPr id="29" name="Text 27"/>
          <p:cNvSpPr/>
          <p:nvPr/>
        </p:nvSpPr>
        <p:spPr>
          <a:xfrm>
            <a:off x="777240" y="5349240"/>
            <a:ext cx="10698480" cy="566928"/>
          </a:xfrm>
          <a:prstGeom prst="rect">
            <a:avLst/>
          </a:prstGeom>
          <a:noFill/>
          <a:ln/>
        </p:spPr>
        <p:txBody>
          <a:bodyPr wrap="square" lIns="0" tIns="0" rIns="0" bIns="0" rtlCol="0" anchor="ctr"/>
          <a:lstStyle/>
          <a:p>
            <a:pPr marL="0" indent="0">
              <a:buNone/>
            </a:pPr>
            <a:r>
              <a:rPr lang="en-US" sz="1500" b="1" dirty="0">
                <a:solidFill>
                  <a:srgbClr val="0F766E"/>
                </a:solidFill>
                <a:latin typeface="Segoe UI" pitchFamily="34" charset="0"/>
                <a:ea typeface="Segoe UI" pitchFamily="34" charset="-122"/>
                <a:cs typeface="Segoe UI" pitchFamily="34" charset="-120"/>
              </a:rPr>
              <a:t>Many posts or purchases can still come from one person.</a:t>
            </a:r>
            <a:endParaRPr lang="en-US" sz="1500" dirty="0"/>
          </a:p>
        </p:txBody>
      </p:sp>
      <p:sp>
        <p:nvSpPr>
          <p:cNvPr id="30" name="Shape 28"/>
          <p:cNvSpPr/>
          <p:nvPr/>
        </p:nvSpPr>
        <p:spPr>
          <a:xfrm>
            <a:off x="566928" y="6373368"/>
            <a:ext cx="11064240" cy="0"/>
          </a:xfrm>
          <a:prstGeom prst="line">
            <a:avLst/>
          </a:prstGeom>
          <a:noFill/>
          <a:ln w="12700">
            <a:solidFill>
              <a:srgbClr val="E2E8F0"/>
            </a:solidFill>
            <a:prstDash val="solid"/>
          </a:ln>
        </p:spPr>
        <p:txBody>
          <a:bodyPr/>
          <a:lstStyle/>
          <a:p>
            <a:endParaRPr lang="en-US"/>
          </a:p>
        </p:txBody>
      </p:sp>
      <p:sp>
        <p:nvSpPr>
          <p:cNvPr id="31" name="Text 29"/>
          <p:cNvSpPr/>
          <p:nvPr/>
        </p:nvSpPr>
        <p:spPr>
          <a:xfrm>
            <a:off x="566928" y="6446520"/>
            <a:ext cx="4114800" cy="22860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FINMARK  |  TEAM 3  |  MO-IT162</a:t>
            </a:r>
            <a:endParaRPr lang="en-US" sz="1000" dirty="0"/>
          </a:p>
        </p:txBody>
      </p:sp>
      <p:sp>
        <p:nvSpPr>
          <p:cNvPr id="32" name="Text 30"/>
          <p:cNvSpPr/>
          <p:nvPr/>
        </p:nvSpPr>
        <p:spPr>
          <a:xfrm>
            <a:off x="4206240" y="6446520"/>
            <a:ext cx="6583680"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FinMark cleaned files and project analysis</a:t>
            </a:r>
            <a:endParaRPr lang="en-US" sz="1000" dirty="0"/>
          </a:p>
        </p:txBody>
      </p:sp>
      <p:sp>
        <p:nvSpPr>
          <p:cNvPr id="33" name="Text 31"/>
          <p:cNvSpPr/>
          <p:nvPr/>
        </p:nvSpPr>
        <p:spPr>
          <a:xfrm>
            <a:off x="10881360" y="6446520"/>
            <a:ext cx="749808"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04 / 09</a:t>
            </a:r>
            <a:endParaRPr lang="en-US" sz="1000" dirty="0"/>
          </a:p>
        </p:txBody>
      </p:sp>
      <p:pic>
        <p:nvPicPr>
          <p:cNvPr id="38" name="Image 0" descr="C:\Users\ongoj\OneDrive\Documents\+MachineLearning\MFML\artifacts\finmark_visual_first_refinement\baseline\media\s1_Picture_25.png">
            <a:extLst>
              <a:ext uri="{FF2B5EF4-FFF2-40B4-BE49-F238E27FC236}">
                <a16:creationId xmlns:a16="http://schemas.microsoft.com/office/drawing/2014/main" id="{FE495767-8B91-AF93-3D20-F51829281DE0}"/>
              </a:ext>
            </a:extLst>
          </p:cNvPr>
          <p:cNvPicPr>
            <a:picLocks noChangeAspect="1"/>
          </p:cNvPicPr>
          <p:nvPr/>
        </p:nvPicPr>
        <p:blipFill>
          <a:blip r:embed="rId3">
            <a:duotone>
              <a:prstClr val="black"/>
              <a:schemeClr val="accent1">
                <a:tint val="45000"/>
                <a:satMod val="400000"/>
              </a:schemeClr>
            </a:duotone>
            <a:alphaModFix amt="20000"/>
            <a:extLst>
              <a:ext uri="{BEBA8EAE-BF5A-486C-A8C5-ECC9F3942E4B}">
                <a14:imgProps xmlns:a14="http://schemas.microsoft.com/office/drawing/2010/main">
                  <a14:imgLayer r:embed="rId4">
                    <a14:imgEffect>
                      <a14:artisticCement/>
                    </a14:imgEffect>
                  </a14:imgLayer>
                </a14:imgProps>
              </a:ext>
            </a:extLst>
          </a:blip>
          <a:stretch>
            <a:fillRect/>
          </a:stretch>
        </p:blipFill>
        <p:spPr>
          <a:xfrm>
            <a:off x="2779778" y="310898"/>
            <a:ext cx="6291070" cy="6291070"/>
          </a:xfrm>
          <a:prstGeom prst="rect">
            <a:avLst/>
          </a:prstGeom>
          <a:scene3d>
            <a:camera prst="perspectiveContrastingLeftFacing"/>
            <a:lightRig rig="threePt" dir="t"/>
          </a:scene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144000" cy="274320"/>
          </a:xfrm>
          <a:prstGeom prst="rect">
            <a:avLst/>
          </a:prstGeom>
          <a:noFill/>
          <a:ln/>
        </p:spPr>
        <p:txBody>
          <a:bodyPr wrap="square" lIns="0" tIns="0" rIns="0" bIns="0" rtlCol="0" anchor="t"/>
          <a:lstStyle/>
          <a:p>
            <a:pPr marL="0" indent="0">
              <a:buNone/>
            </a:pPr>
            <a:r>
              <a:rPr lang="en-US" sz="1200" b="1" kern="0" spc="100" dirty="0">
                <a:solidFill>
                  <a:srgbClr val="0F766E"/>
                </a:solidFill>
                <a:latin typeface="Segoe UI" pitchFamily="34" charset="0"/>
                <a:ea typeface="Segoe UI" pitchFamily="34" charset="-122"/>
                <a:cs typeface="Segoe UI" pitchFamily="34" charset="-120"/>
              </a:rPr>
              <a:t>04  MARKET TRENDS</a:t>
            </a:r>
            <a:endParaRPr lang="en-US" sz="1200" dirty="0"/>
          </a:p>
        </p:txBody>
      </p:sp>
      <p:sp>
        <p:nvSpPr>
          <p:cNvPr id="3" name="Text 1"/>
          <p:cNvSpPr/>
          <p:nvPr/>
        </p:nvSpPr>
        <p:spPr>
          <a:xfrm>
            <a:off x="566928" y="713232"/>
            <a:ext cx="11064240" cy="640080"/>
          </a:xfrm>
          <a:prstGeom prst="rect">
            <a:avLst/>
          </a:prstGeom>
          <a:noFill/>
          <a:ln/>
        </p:spPr>
        <p:txBody>
          <a:bodyPr wrap="square" lIns="0" tIns="0" rIns="0" bIns="0" rtlCol="0" anchor="t"/>
          <a:lstStyle/>
          <a:p>
            <a:pPr marL="0" indent="0">
              <a:buNone/>
            </a:pPr>
            <a:r>
              <a:rPr lang="en-US" sz="2800" b="1" dirty="0">
                <a:solidFill>
                  <a:srgbClr val="1D3557"/>
                </a:solidFill>
                <a:latin typeface="Segoe UI" pitchFamily="34" charset="0"/>
                <a:ea typeface="Segoe UI" pitchFamily="34" charset="-122"/>
                <a:cs typeface="Segoe UI" pitchFamily="34" charset="-120"/>
              </a:rPr>
              <a:t>Purchases ranged 82 to 121 a month; categories stayed close</a:t>
            </a:r>
            <a:endParaRPr lang="en-US" sz="2800" dirty="0"/>
          </a:p>
        </p:txBody>
      </p:sp>
      <p:sp>
        <p:nvSpPr>
          <p:cNvPr id="4" name="Text 2"/>
          <p:cNvSpPr/>
          <p:nvPr/>
        </p:nvSpPr>
        <p:spPr>
          <a:xfrm>
            <a:off x="566928" y="1691640"/>
            <a:ext cx="7315200" cy="274320"/>
          </a:xfrm>
          <a:prstGeom prst="rect">
            <a:avLst/>
          </a:prstGeom>
          <a:noFill/>
          <a:ln/>
        </p:spPr>
        <p:txBody>
          <a:bodyPr wrap="square" lIns="0" tIns="0" rIns="0" bIns="0" rtlCol="0" anchor="t"/>
          <a:lstStyle/>
          <a:p>
            <a:pPr marL="0" indent="0">
              <a:buNone/>
            </a:pPr>
            <a:r>
              <a:rPr lang="en-US" sz="1300" b="1" dirty="0">
                <a:solidFill>
                  <a:srgbClr val="1D3557"/>
                </a:solidFill>
                <a:latin typeface="Segoe UI" pitchFamily="34" charset="0"/>
                <a:ea typeface="Segoe UI" pitchFamily="34" charset="-122"/>
                <a:cs typeface="Segoe UI" pitchFamily="34" charset="-120"/>
              </a:rPr>
              <a:t>Purchases per month, Jul 2022 to Jun 2024 (n = 2,420 rows)</a:t>
            </a:r>
            <a:endParaRPr lang="en-US" sz="1300" dirty="0"/>
          </a:p>
        </p:txBody>
      </p:sp>
      <p:pic>
        <p:nvPicPr>
          <p:cNvPr id="5" name="Image 0" descr="C:\Users\ongoj\OneDrive\Documents\+MachineLearning\MFML\artifacts\finmark_visual_first_refinement\baseline\media\s5_Image_0.png"/>
          <p:cNvPicPr>
            <a:picLocks noChangeAspect="1"/>
          </p:cNvPicPr>
          <p:nvPr/>
        </p:nvPicPr>
        <p:blipFill>
          <a:blip r:embed="rId3"/>
          <a:stretch>
            <a:fillRect/>
          </a:stretch>
        </p:blipFill>
        <p:spPr>
          <a:xfrm>
            <a:off x="566928" y="2011680"/>
            <a:ext cx="7223760" cy="3798767"/>
          </a:xfrm>
          <a:prstGeom prst="rect">
            <a:avLst/>
          </a:prstGeom>
        </p:spPr>
      </p:pic>
      <p:pic>
        <p:nvPicPr>
          <p:cNvPr id="13" name="Image 0" descr="C:\Users\ongoj\OneDrive\Documents\+MachineLearning\MFML\artifacts\finmark_visual_first_refinement\baseline\media\s5_Image_0.png"/>
          <p:cNvPicPr>
            <a:picLocks noChangeAspect="1"/>
          </p:cNvPicPr>
          <p:nvPr/>
        </p:nvPicPr>
        <p:blipFill>
          <a:blip r:embed="rId3"/>
          <a:stretch>
            <a:fillRect/>
          </a:stretch>
        </p:blipFill>
        <p:spPr>
          <a:xfrm>
            <a:off x="566928" y="2011680"/>
            <a:ext cx="7223760" cy="3798767"/>
          </a:xfrm>
          <a:prstGeom prst="rect">
            <a:avLst/>
          </a:prstGeom>
        </p:spPr>
      </p:pic>
      <p:sp>
        <p:nvSpPr>
          <p:cNvPr id="6" name="Text 3"/>
          <p:cNvSpPr/>
          <p:nvPr/>
        </p:nvSpPr>
        <p:spPr>
          <a:xfrm>
            <a:off x="8092440" y="1691640"/>
            <a:ext cx="3657600" cy="274320"/>
          </a:xfrm>
          <a:prstGeom prst="rect">
            <a:avLst/>
          </a:prstGeom>
          <a:noFill/>
          <a:ln/>
        </p:spPr>
        <p:txBody>
          <a:bodyPr wrap="square" lIns="0" tIns="0" rIns="0" bIns="0" rtlCol="0" anchor="t"/>
          <a:lstStyle/>
          <a:p>
            <a:pPr marL="0" indent="0">
              <a:buNone/>
            </a:pPr>
            <a:r>
              <a:rPr lang="en-US" sz="1300" b="1" dirty="0">
                <a:solidFill>
                  <a:srgbClr val="1D3557"/>
                </a:solidFill>
                <a:latin typeface="Segoe UI" pitchFamily="34" charset="0"/>
                <a:ea typeface="Segoe UI" pitchFamily="34" charset="-122"/>
                <a:cs typeface="Segoe UI" pitchFamily="34" charset="-120"/>
              </a:rPr>
              <a:t>Category share of all 2,420 purchases</a:t>
            </a:r>
            <a:endParaRPr lang="en-US" sz="1300" dirty="0"/>
          </a:p>
        </p:txBody>
      </p:sp>
      <p:pic>
        <p:nvPicPr>
          <p:cNvPr id="7" name="Image 1" descr="C:\Users\ongoj\OneDrive\Documents\+MachineLearning\MFML\artifacts\finmark_visual_first_refinement\baseline\media\s5_Image_1.png"/>
          <p:cNvPicPr>
            <a:picLocks noChangeAspect="1"/>
          </p:cNvPicPr>
          <p:nvPr/>
        </p:nvPicPr>
        <p:blipFill>
          <a:blip r:embed="rId4"/>
          <a:stretch>
            <a:fillRect/>
          </a:stretch>
        </p:blipFill>
        <p:spPr>
          <a:xfrm>
            <a:off x="8092440" y="2057400"/>
            <a:ext cx="3566160" cy="2234690"/>
          </a:xfrm>
          <a:prstGeom prst="rect">
            <a:avLst/>
          </a:prstGeom>
        </p:spPr>
      </p:pic>
      <p:sp>
        <p:nvSpPr>
          <p:cNvPr id="8" name="Text 4"/>
          <p:cNvSpPr/>
          <p:nvPr/>
        </p:nvSpPr>
        <p:spPr>
          <a:xfrm>
            <a:off x="566928" y="5897880"/>
            <a:ext cx="11064240" cy="274320"/>
          </a:xfrm>
          <a:prstGeom prst="rect">
            <a:avLst/>
          </a:prstGeom>
          <a:noFill/>
          <a:ln/>
        </p:spPr>
        <p:txBody>
          <a:bodyPr wrap="square" lIns="0" tIns="0" rIns="0" bIns="0" rtlCol="0" anchor="t"/>
          <a:lstStyle/>
          <a:p>
            <a:pPr marL="0" indent="0">
              <a:buNone/>
            </a:pPr>
            <a:r>
              <a:rPr lang="en-US" sz="1200" dirty="0">
                <a:solidFill>
                  <a:srgbClr val="475569"/>
                </a:solidFill>
                <a:latin typeface="Segoe UI" pitchFamily="34" charset="0"/>
                <a:ea typeface="Segoe UI" pitchFamily="34" charset="-122"/>
                <a:cs typeface="Segoe UI" pitchFamily="34" charset="-120"/>
              </a:rPr>
              <a:t>Recorded counts, not profit. Two years is too short to show a seasonal pattern.</a:t>
            </a:r>
            <a:endParaRPr lang="en-US" sz="1200" dirty="0"/>
          </a:p>
        </p:txBody>
      </p:sp>
      <p:pic>
        <p:nvPicPr>
          <p:cNvPr id="14" name="Image 1" descr="C:\Users\ongoj\OneDrive\Documents\+MachineLearning\MFML\artifacts\finmark_visual_first_refinement\baseline\media\s5_Image_1.png"/>
          <p:cNvPicPr>
            <a:picLocks noChangeAspect="1"/>
          </p:cNvPicPr>
          <p:nvPr/>
        </p:nvPicPr>
        <p:blipFill>
          <a:blip r:embed="rId4"/>
          <a:stretch>
            <a:fillRect/>
          </a:stretch>
        </p:blipFill>
        <p:spPr>
          <a:xfrm>
            <a:off x="8092440" y="2057400"/>
            <a:ext cx="3566160" cy="2234690"/>
          </a:xfrm>
          <a:prstGeom prst="rect">
            <a:avLst/>
          </a:prstGeom>
        </p:spPr>
      </p:pic>
      <p:sp>
        <p:nvSpPr>
          <p:cNvPr id="15" name="Text 4"/>
          <p:cNvSpPr/>
          <p:nvPr/>
        </p:nvSpPr>
        <p:spPr>
          <a:xfrm>
            <a:off x="566928" y="5897880"/>
            <a:ext cx="11064240" cy="274320"/>
          </a:xfrm>
          <a:prstGeom prst="rect">
            <a:avLst/>
          </a:prstGeom>
          <a:noFill/>
          <a:ln/>
        </p:spPr>
        <p:txBody>
          <a:bodyPr wrap="square" lIns="0" tIns="0" rIns="0" bIns="0" rtlCol="0" anchor="t"/>
          <a:lstStyle/>
          <a:p>
            <a:pPr marL="0" indent="0">
              <a:buNone/>
            </a:pPr>
            <a:r>
              <a:rPr lang="en-US" sz="1200" dirty="0">
                <a:solidFill>
                  <a:srgbClr val="475569"/>
                </a:solidFill>
                <a:latin typeface="Segoe UI" pitchFamily="34" charset="0"/>
                <a:ea typeface="Segoe UI" pitchFamily="34" charset="-122"/>
                <a:cs typeface="Segoe UI" pitchFamily="34" charset="-120"/>
              </a:rPr>
              <a:t>Recorded counts, not profit. Two years is too short to show a seasonal pattern.</a:t>
            </a:r>
            <a:endParaRPr lang="en-US" sz="1200" dirty="0"/>
          </a:p>
        </p:txBody>
      </p:sp>
      <p:sp>
        <p:nvSpPr>
          <p:cNvPr id="9" name="Shape 5"/>
          <p:cNvSpPr/>
          <p:nvPr/>
        </p:nvSpPr>
        <p:spPr>
          <a:xfrm>
            <a:off x="566928" y="6373368"/>
            <a:ext cx="11064240" cy="0"/>
          </a:xfrm>
          <a:prstGeom prst="line">
            <a:avLst/>
          </a:prstGeom>
          <a:noFill/>
          <a:ln w="12700">
            <a:solidFill>
              <a:srgbClr val="E2E8F0"/>
            </a:solidFill>
            <a:prstDash val="solid"/>
          </a:ln>
        </p:spPr>
        <p:txBody>
          <a:bodyPr/>
          <a:lstStyle/>
          <a:p>
            <a:endParaRPr lang="en-US"/>
          </a:p>
        </p:txBody>
      </p:sp>
      <p:sp>
        <p:nvSpPr>
          <p:cNvPr id="10" name="Text 6"/>
          <p:cNvSpPr/>
          <p:nvPr/>
        </p:nvSpPr>
        <p:spPr>
          <a:xfrm>
            <a:off x="566928" y="6446520"/>
            <a:ext cx="4114800" cy="22860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FINMARK  |  TEAM 3  |  MO-IT162</a:t>
            </a:r>
            <a:endParaRPr lang="en-US" sz="1000" dirty="0"/>
          </a:p>
        </p:txBody>
      </p:sp>
      <p:sp>
        <p:nvSpPr>
          <p:cNvPr id="11" name="Text 7"/>
          <p:cNvSpPr/>
          <p:nvPr/>
        </p:nvSpPr>
        <p:spPr>
          <a:xfrm>
            <a:off x="4206240" y="6446520"/>
            <a:ext cx="6583680"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2,420 cleaned transactions | recomputed</a:t>
            </a:r>
            <a:endParaRPr lang="en-US" sz="1000" dirty="0"/>
          </a:p>
        </p:txBody>
      </p:sp>
      <p:sp>
        <p:nvSpPr>
          <p:cNvPr id="12" name="Text 8"/>
          <p:cNvSpPr/>
          <p:nvPr/>
        </p:nvSpPr>
        <p:spPr>
          <a:xfrm>
            <a:off x="10881360" y="6446520"/>
            <a:ext cx="749808"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05 / 09</a:t>
            </a:r>
            <a:endParaRPr lang="en-US" sz="1000" dirty="0"/>
          </a:p>
        </p:txBody>
      </p:sp>
      <p:sp>
        <p:nvSpPr>
          <p:cNvPr id="16" name="Text 8"/>
          <p:cNvSpPr/>
          <p:nvPr/>
        </p:nvSpPr>
        <p:spPr>
          <a:xfrm>
            <a:off x="10881360" y="6446520"/>
            <a:ext cx="749808"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05 / 09</a:t>
            </a:r>
            <a:endParaRPr lang="en-US" sz="1000" dirty="0"/>
          </a:p>
        </p:txBody>
      </p:sp>
      <p:pic>
        <p:nvPicPr>
          <p:cNvPr id="21" name="Image 0" descr="C:\Users\ongoj\OneDrive\Documents\+MachineLearning\MFML\artifacts\finmark_visual_first_refinement\baseline\media\s1_Picture_25.png">
            <a:extLst>
              <a:ext uri="{FF2B5EF4-FFF2-40B4-BE49-F238E27FC236}">
                <a16:creationId xmlns:a16="http://schemas.microsoft.com/office/drawing/2014/main" id="{1EAD68AD-0C0D-B0E8-F151-1595FF5BAA35}"/>
              </a:ext>
            </a:extLst>
          </p:cNvPr>
          <p:cNvPicPr>
            <a:picLocks noChangeAspect="1"/>
          </p:cNvPicPr>
          <p:nvPr/>
        </p:nvPicPr>
        <p:blipFill>
          <a:blip r:embed="rId5">
            <a:duotone>
              <a:prstClr val="black"/>
              <a:schemeClr val="accent1">
                <a:tint val="45000"/>
                <a:satMod val="400000"/>
              </a:schemeClr>
            </a:duotone>
            <a:alphaModFix amt="20000"/>
            <a:extLst>
              <a:ext uri="{BEBA8EAE-BF5A-486C-A8C5-ECC9F3942E4B}">
                <a14:imgProps xmlns:a14="http://schemas.microsoft.com/office/drawing/2010/main">
                  <a14:imgLayer r:embed="rId6">
                    <a14:imgEffect>
                      <a14:artisticCement/>
                    </a14:imgEffect>
                  </a14:imgLayer>
                </a14:imgProps>
              </a:ext>
            </a:extLst>
          </a:blip>
          <a:stretch>
            <a:fillRect/>
          </a:stretch>
        </p:blipFill>
        <p:spPr>
          <a:xfrm>
            <a:off x="2779778" y="310898"/>
            <a:ext cx="6291070" cy="6291070"/>
          </a:xfrm>
          <a:prstGeom prst="rect">
            <a:avLst/>
          </a:prstGeom>
          <a:scene3d>
            <a:camera prst="perspectiveContrastingLeftFacing"/>
            <a:lightRig rig="threePt" dir="t"/>
          </a:scene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144000" cy="274320"/>
          </a:xfrm>
          <a:prstGeom prst="rect">
            <a:avLst/>
          </a:prstGeom>
          <a:noFill/>
          <a:ln/>
        </p:spPr>
        <p:txBody>
          <a:bodyPr wrap="square" lIns="0" tIns="0" rIns="0" bIns="0" rtlCol="0" anchor="t"/>
          <a:lstStyle/>
          <a:p>
            <a:pPr marL="0" indent="0">
              <a:buNone/>
            </a:pPr>
            <a:r>
              <a:rPr lang="en-US" sz="1200" b="1" kern="0" spc="100" dirty="0">
                <a:solidFill>
                  <a:srgbClr val="0F766E"/>
                </a:solidFill>
                <a:latin typeface="Segoe UI" pitchFamily="34" charset="0"/>
                <a:ea typeface="Segoe UI" pitchFamily="34" charset="-122"/>
                <a:cs typeface="Segoe UI" pitchFamily="34" charset="-120"/>
              </a:rPr>
              <a:t>05  PURCHASING HABITS</a:t>
            </a:r>
            <a:endParaRPr lang="en-US" sz="1200" dirty="0"/>
          </a:p>
        </p:txBody>
      </p:sp>
      <p:sp>
        <p:nvSpPr>
          <p:cNvPr id="3" name="Text 1"/>
          <p:cNvSpPr/>
          <p:nvPr/>
        </p:nvSpPr>
        <p:spPr>
          <a:xfrm>
            <a:off x="566928" y="713232"/>
            <a:ext cx="11064240" cy="640080"/>
          </a:xfrm>
          <a:prstGeom prst="rect">
            <a:avLst/>
          </a:prstGeom>
          <a:noFill/>
          <a:ln/>
        </p:spPr>
        <p:txBody>
          <a:bodyPr wrap="square" lIns="0" tIns="0" rIns="0" bIns="0" rtlCol="0" anchor="t"/>
          <a:lstStyle/>
          <a:p>
            <a:pPr marL="0" indent="0">
              <a:buNone/>
            </a:pPr>
            <a:r>
              <a:rPr lang="en-US" sz="2800" b="1" dirty="0">
                <a:solidFill>
                  <a:srgbClr val="1D3557"/>
                </a:solidFill>
                <a:latin typeface="Segoe UI" pitchFamily="34" charset="0"/>
                <a:ea typeface="Segoe UI" pitchFamily="34" charset="-122"/>
                <a:cs typeface="Segoe UI" pitchFamily="34" charset="-120"/>
              </a:rPr>
              <a:t>Most buyers bought once, and most stayed in one category</a:t>
            </a:r>
            <a:endParaRPr lang="en-US" sz="2800" dirty="0"/>
          </a:p>
        </p:txBody>
      </p:sp>
      <p:sp>
        <p:nvSpPr>
          <p:cNvPr id="4" name="Text 2"/>
          <p:cNvSpPr/>
          <p:nvPr/>
        </p:nvSpPr>
        <p:spPr>
          <a:xfrm>
            <a:off x="566928" y="1371600"/>
            <a:ext cx="10972800" cy="274320"/>
          </a:xfrm>
          <a:prstGeom prst="rect">
            <a:avLst/>
          </a:prstGeom>
          <a:noFill/>
          <a:ln/>
        </p:spPr>
        <p:txBody>
          <a:bodyPr wrap="square" lIns="0" tIns="0" rIns="0" bIns="0" rtlCol="0" anchor="t"/>
          <a:lstStyle/>
          <a:p>
            <a:pPr marL="0" indent="0">
              <a:buNone/>
            </a:pPr>
            <a:r>
              <a:rPr lang="en-US" sz="1300" dirty="0">
                <a:solidFill>
                  <a:srgbClr val="475569"/>
                </a:solidFill>
                <a:latin typeface="Segoe UI" pitchFamily="34" charset="0"/>
                <a:ea typeface="Segoe UI" pitchFamily="34" charset="-122"/>
                <a:cs typeface="Segoe UI" pitchFamily="34" charset="-120"/>
              </a:rPr>
              <a:t>1,642 purchasing customers, Jul 2022 to Jun 2024. Recorded purchases, not lifetime habits.</a:t>
            </a:r>
            <a:endParaRPr lang="en-US" sz="1300" dirty="0"/>
          </a:p>
        </p:txBody>
      </p:sp>
      <p:sp>
        <p:nvSpPr>
          <p:cNvPr id="5" name="Shape 3"/>
          <p:cNvSpPr/>
          <p:nvPr/>
        </p:nvSpPr>
        <p:spPr>
          <a:xfrm>
            <a:off x="566928" y="1783080"/>
            <a:ext cx="3566160" cy="3840480"/>
          </a:xfrm>
          <a:prstGeom prst="rect">
            <a:avLst/>
          </a:prstGeom>
          <a:solidFill>
            <a:srgbClr val="FFFFFF"/>
          </a:solidFill>
          <a:ln w="12700">
            <a:solidFill>
              <a:srgbClr val="E2E8F0"/>
            </a:solidFill>
            <a:prstDash val="solid"/>
          </a:ln>
        </p:spPr>
        <p:txBody>
          <a:bodyPr/>
          <a:lstStyle/>
          <a:p>
            <a:endParaRPr lang="en-US"/>
          </a:p>
        </p:txBody>
      </p:sp>
      <p:sp>
        <p:nvSpPr>
          <p:cNvPr id="6" name="Shape 4"/>
          <p:cNvSpPr/>
          <p:nvPr/>
        </p:nvSpPr>
        <p:spPr>
          <a:xfrm>
            <a:off x="566928" y="1783080"/>
            <a:ext cx="3566160" cy="54864"/>
          </a:xfrm>
          <a:prstGeom prst="rect">
            <a:avLst/>
          </a:prstGeom>
          <a:solidFill>
            <a:srgbClr val="A76117"/>
          </a:solidFill>
          <a:ln w="12700">
            <a:solidFill>
              <a:srgbClr val="A76117"/>
            </a:solidFill>
            <a:prstDash val="solid"/>
          </a:ln>
        </p:spPr>
        <p:txBody>
          <a:bodyPr/>
          <a:lstStyle/>
          <a:p>
            <a:endParaRPr lang="en-US"/>
          </a:p>
        </p:txBody>
      </p:sp>
      <p:sp>
        <p:nvSpPr>
          <p:cNvPr id="7" name="Text 5"/>
          <p:cNvSpPr/>
          <p:nvPr/>
        </p:nvSpPr>
        <p:spPr>
          <a:xfrm>
            <a:off x="795528" y="1965960"/>
            <a:ext cx="3154680" cy="502920"/>
          </a:xfrm>
          <a:prstGeom prst="rect">
            <a:avLst/>
          </a:prstGeom>
          <a:noFill/>
          <a:ln/>
        </p:spPr>
        <p:txBody>
          <a:bodyPr wrap="square" lIns="0" tIns="0" rIns="0" bIns="0" rtlCol="0" anchor="t"/>
          <a:lstStyle/>
          <a:p>
            <a:pPr marL="0" indent="0">
              <a:buNone/>
            </a:pPr>
            <a:r>
              <a:rPr lang="en-US" sz="2600" b="1" dirty="0">
                <a:solidFill>
                  <a:srgbClr val="A76117"/>
                </a:solidFill>
                <a:latin typeface="Segoe UI" pitchFamily="34" charset="0"/>
                <a:ea typeface="Segoe UI" pitchFamily="34" charset="-122"/>
                <a:cs typeface="Segoe UI" pitchFamily="34" charset="-120"/>
              </a:rPr>
              <a:t>64.6%</a:t>
            </a:r>
            <a:endParaRPr lang="en-US" sz="2600" dirty="0"/>
          </a:p>
        </p:txBody>
      </p:sp>
      <p:sp>
        <p:nvSpPr>
          <p:cNvPr id="8" name="Text 6"/>
          <p:cNvSpPr/>
          <p:nvPr/>
        </p:nvSpPr>
        <p:spPr>
          <a:xfrm>
            <a:off x="795528" y="2487168"/>
            <a:ext cx="3154680" cy="457200"/>
          </a:xfrm>
          <a:prstGeom prst="rect">
            <a:avLst/>
          </a:prstGeom>
          <a:noFill/>
          <a:ln/>
        </p:spPr>
        <p:txBody>
          <a:bodyPr wrap="square" lIns="0" tIns="0" rIns="0" bIns="0" rtlCol="0" anchor="t"/>
          <a:lstStyle/>
          <a:p>
            <a:pPr marL="0" indent="0">
              <a:buNone/>
            </a:pPr>
            <a:r>
              <a:rPr lang="en-US" sz="1200" dirty="0">
                <a:solidFill>
                  <a:srgbClr val="475569"/>
                </a:solidFill>
                <a:latin typeface="Segoe UI" pitchFamily="34" charset="0"/>
                <a:ea typeface="Segoe UI" pitchFamily="34" charset="-122"/>
                <a:cs typeface="Segoe UI" pitchFamily="34" charset="-120"/>
              </a:rPr>
              <a:t>bought exactly once (1,060 of 1,642)</a:t>
            </a:r>
            <a:endParaRPr lang="en-US" sz="1200" dirty="0"/>
          </a:p>
        </p:txBody>
      </p:sp>
      <p:pic>
        <p:nvPicPr>
          <p:cNvPr id="9" name="Image 0" descr="C:\Users\ongoj\OneDrive\Documents\+MachineLearning\MFML\artifacts\finmark_visual_first_refinement\baseline\media\s6_Picture_73.png"/>
          <p:cNvPicPr>
            <a:picLocks noChangeAspect="1"/>
          </p:cNvPicPr>
          <p:nvPr/>
        </p:nvPicPr>
        <p:blipFill>
          <a:blip r:embed="rId3"/>
          <a:stretch>
            <a:fillRect/>
          </a:stretch>
        </p:blipFill>
        <p:spPr>
          <a:xfrm>
            <a:off x="1042416" y="3017520"/>
            <a:ext cx="2615184" cy="2138315"/>
          </a:xfrm>
          <a:prstGeom prst="rect">
            <a:avLst/>
          </a:prstGeom>
        </p:spPr>
      </p:pic>
      <p:sp>
        <p:nvSpPr>
          <p:cNvPr id="26" name="Text 6"/>
          <p:cNvSpPr/>
          <p:nvPr/>
        </p:nvSpPr>
        <p:spPr>
          <a:xfrm>
            <a:off x="795528" y="2487168"/>
            <a:ext cx="3154680" cy="457200"/>
          </a:xfrm>
          <a:prstGeom prst="rect">
            <a:avLst/>
          </a:prstGeom>
          <a:noFill/>
          <a:ln/>
        </p:spPr>
        <p:txBody>
          <a:bodyPr wrap="square" lIns="0" tIns="0" rIns="0" bIns="0" rtlCol="0" anchor="t"/>
          <a:lstStyle/>
          <a:p>
            <a:pPr marL="0" indent="0">
              <a:buNone/>
            </a:pPr>
            <a:r>
              <a:rPr lang="en-US" sz="1200" dirty="0">
                <a:solidFill>
                  <a:srgbClr val="475569"/>
                </a:solidFill>
                <a:latin typeface="Segoe UI" pitchFamily="34" charset="0"/>
                <a:ea typeface="Segoe UI" pitchFamily="34" charset="-122"/>
                <a:cs typeface="Segoe UI" pitchFamily="34" charset="-120"/>
              </a:rPr>
              <a:t>bought exactly once (1,060 of 1,642)</a:t>
            </a:r>
            <a:endParaRPr lang="en-US" sz="1200" dirty="0"/>
          </a:p>
        </p:txBody>
      </p:sp>
      <p:pic>
        <p:nvPicPr>
          <p:cNvPr id="27" name="Image 0" descr="C:\Users\ongoj\OneDrive\Documents\+MachineLearning\MFML\artifacts\finmark_visual_first_refinement\baseline\media\s6_Picture_73.png"/>
          <p:cNvPicPr>
            <a:picLocks noChangeAspect="1"/>
          </p:cNvPicPr>
          <p:nvPr/>
        </p:nvPicPr>
        <p:blipFill>
          <a:blip r:embed="rId3"/>
          <a:stretch>
            <a:fillRect/>
          </a:stretch>
        </p:blipFill>
        <p:spPr>
          <a:xfrm>
            <a:off x="1042416" y="3017520"/>
            <a:ext cx="2615184" cy="2138315"/>
          </a:xfrm>
          <a:prstGeom prst="rect">
            <a:avLst/>
          </a:prstGeom>
        </p:spPr>
      </p:pic>
      <p:sp>
        <p:nvSpPr>
          <p:cNvPr id="10" name="Shape 7"/>
          <p:cNvSpPr/>
          <p:nvPr/>
        </p:nvSpPr>
        <p:spPr>
          <a:xfrm>
            <a:off x="4315968" y="1783080"/>
            <a:ext cx="3566160" cy="3840480"/>
          </a:xfrm>
          <a:prstGeom prst="rect">
            <a:avLst/>
          </a:prstGeom>
          <a:solidFill>
            <a:srgbClr val="FFFFFF"/>
          </a:solidFill>
          <a:ln w="12700">
            <a:solidFill>
              <a:srgbClr val="E2E8F0"/>
            </a:solidFill>
            <a:prstDash val="solid"/>
          </a:ln>
        </p:spPr>
        <p:txBody>
          <a:bodyPr/>
          <a:lstStyle/>
          <a:p>
            <a:endParaRPr lang="en-US"/>
          </a:p>
        </p:txBody>
      </p:sp>
      <p:sp>
        <p:nvSpPr>
          <p:cNvPr id="11" name="Shape 8"/>
          <p:cNvSpPr/>
          <p:nvPr/>
        </p:nvSpPr>
        <p:spPr>
          <a:xfrm>
            <a:off x="4315968" y="1783080"/>
            <a:ext cx="3566160" cy="54864"/>
          </a:xfrm>
          <a:prstGeom prst="rect">
            <a:avLst/>
          </a:prstGeom>
          <a:solidFill>
            <a:srgbClr val="0F766E"/>
          </a:solidFill>
          <a:ln w="12700">
            <a:solidFill>
              <a:srgbClr val="0F766E"/>
            </a:solidFill>
            <a:prstDash val="solid"/>
          </a:ln>
        </p:spPr>
        <p:txBody>
          <a:bodyPr/>
          <a:lstStyle/>
          <a:p>
            <a:endParaRPr lang="en-US"/>
          </a:p>
        </p:txBody>
      </p:sp>
      <p:sp>
        <p:nvSpPr>
          <p:cNvPr id="12" name="Text 9"/>
          <p:cNvSpPr/>
          <p:nvPr/>
        </p:nvSpPr>
        <p:spPr>
          <a:xfrm>
            <a:off x="4544568" y="1965960"/>
            <a:ext cx="3154680" cy="502920"/>
          </a:xfrm>
          <a:prstGeom prst="rect">
            <a:avLst/>
          </a:prstGeom>
          <a:noFill/>
          <a:ln/>
        </p:spPr>
        <p:txBody>
          <a:bodyPr wrap="square" lIns="0" tIns="0" rIns="0" bIns="0" rtlCol="0" anchor="t"/>
          <a:lstStyle/>
          <a:p>
            <a:pPr marL="0" indent="0">
              <a:buNone/>
            </a:pPr>
            <a:r>
              <a:rPr lang="en-US" sz="2600" b="1" dirty="0">
                <a:solidFill>
                  <a:srgbClr val="0F766E"/>
                </a:solidFill>
                <a:latin typeface="Segoe UI" pitchFamily="34" charset="0"/>
                <a:ea typeface="Segoe UI" pitchFamily="34" charset="-122"/>
                <a:cs typeface="Segoe UI" pitchFamily="34" charset="-120"/>
              </a:rPr>
              <a:t>672.04 | 729.90</a:t>
            </a:r>
            <a:endParaRPr lang="en-US" sz="2600" dirty="0"/>
          </a:p>
        </p:txBody>
      </p:sp>
      <p:sp>
        <p:nvSpPr>
          <p:cNvPr id="13" name="Text 10"/>
          <p:cNvSpPr/>
          <p:nvPr/>
        </p:nvSpPr>
        <p:spPr>
          <a:xfrm>
            <a:off x="4544568" y="2487168"/>
            <a:ext cx="3154680" cy="457200"/>
          </a:xfrm>
          <a:prstGeom prst="rect">
            <a:avLst/>
          </a:prstGeom>
          <a:noFill/>
          <a:ln/>
        </p:spPr>
        <p:txBody>
          <a:bodyPr wrap="square" lIns="0" tIns="0" rIns="0" bIns="0" rtlCol="0" anchor="t"/>
          <a:lstStyle/>
          <a:p>
            <a:pPr marL="0" indent="0">
              <a:buNone/>
            </a:pPr>
            <a:r>
              <a:rPr lang="en-US" sz="1200" dirty="0">
                <a:solidFill>
                  <a:srgbClr val="475569"/>
                </a:solidFill>
                <a:latin typeface="Segoe UI" pitchFamily="34" charset="0"/>
                <a:ea typeface="Segoe UI" pitchFamily="34" charset="-122"/>
                <a:cs typeface="Segoe UI" pitchFamily="34" charset="-120"/>
              </a:rPr>
              <a:t>median | mean total recorded amount per buyer</a:t>
            </a:r>
            <a:endParaRPr lang="en-US" sz="1200" dirty="0"/>
          </a:p>
        </p:txBody>
      </p:sp>
      <p:pic>
        <p:nvPicPr>
          <p:cNvPr id="14" name="Image 1" descr="C:\Users\ongoj\OneDrive\Documents\+MachineLearning\MFML\artifacts\finmark_visual_first_refinement\baseline\media\s6_Picture_74.png"/>
          <p:cNvPicPr>
            <a:picLocks noChangeAspect="1"/>
          </p:cNvPicPr>
          <p:nvPr/>
        </p:nvPicPr>
        <p:blipFill>
          <a:blip r:embed="rId4"/>
          <a:stretch>
            <a:fillRect/>
          </a:stretch>
        </p:blipFill>
        <p:spPr>
          <a:xfrm>
            <a:off x="4791456" y="3017520"/>
            <a:ext cx="2615184" cy="2153502"/>
          </a:xfrm>
          <a:prstGeom prst="rect">
            <a:avLst/>
          </a:prstGeom>
        </p:spPr>
      </p:pic>
      <p:sp>
        <p:nvSpPr>
          <p:cNvPr id="15" name="Shape 11"/>
          <p:cNvSpPr/>
          <p:nvPr/>
        </p:nvSpPr>
        <p:spPr>
          <a:xfrm>
            <a:off x="8065008" y="1783080"/>
            <a:ext cx="3566160" cy="3840480"/>
          </a:xfrm>
          <a:prstGeom prst="rect">
            <a:avLst/>
          </a:prstGeom>
          <a:solidFill>
            <a:srgbClr val="FFFFFF"/>
          </a:solidFill>
          <a:ln w="12700">
            <a:solidFill>
              <a:srgbClr val="E2E8F0"/>
            </a:solidFill>
            <a:prstDash val="solid"/>
          </a:ln>
        </p:spPr>
        <p:txBody>
          <a:bodyPr/>
          <a:lstStyle/>
          <a:p>
            <a:endParaRPr lang="en-US"/>
          </a:p>
        </p:txBody>
      </p:sp>
      <p:sp>
        <p:nvSpPr>
          <p:cNvPr id="16" name="Shape 12"/>
          <p:cNvSpPr/>
          <p:nvPr/>
        </p:nvSpPr>
        <p:spPr>
          <a:xfrm>
            <a:off x="8065008" y="1783080"/>
            <a:ext cx="3566160" cy="54864"/>
          </a:xfrm>
          <a:prstGeom prst="rect">
            <a:avLst/>
          </a:prstGeom>
          <a:solidFill>
            <a:srgbClr val="A76117"/>
          </a:solidFill>
          <a:ln w="12700">
            <a:solidFill>
              <a:srgbClr val="A76117"/>
            </a:solidFill>
            <a:prstDash val="solid"/>
          </a:ln>
        </p:spPr>
        <p:txBody>
          <a:bodyPr/>
          <a:lstStyle/>
          <a:p>
            <a:endParaRPr lang="en-US"/>
          </a:p>
        </p:txBody>
      </p:sp>
      <p:sp>
        <p:nvSpPr>
          <p:cNvPr id="17" name="Text 13"/>
          <p:cNvSpPr/>
          <p:nvPr/>
        </p:nvSpPr>
        <p:spPr>
          <a:xfrm>
            <a:off x="8293608" y="1965960"/>
            <a:ext cx="3154680" cy="502920"/>
          </a:xfrm>
          <a:prstGeom prst="rect">
            <a:avLst/>
          </a:prstGeom>
          <a:noFill/>
          <a:ln/>
        </p:spPr>
        <p:txBody>
          <a:bodyPr wrap="square" lIns="0" tIns="0" rIns="0" bIns="0" rtlCol="0" anchor="t"/>
          <a:lstStyle/>
          <a:p>
            <a:pPr marL="0" indent="0">
              <a:buNone/>
            </a:pPr>
            <a:r>
              <a:rPr lang="en-US" sz="2600" b="1" dirty="0">
                <a:solidFill>
                  <a:srgbClr val="A76117"/>
                </a:solidFill>
                <a:latin typeface="Segoe UI" pitchFamily="34" charset="0"/>
                <a:ea typeface="Segoe UI" pitchFamily="34" charset="-122"/>
                <a:cs typeface="Segoe UI" pitchFamily="34" charset="-120"/>
              </a:rPr>
              <a:t>69.6%</a:t>
            </a:r>
            <a:endParaRPr lang="en-US" sz="2600" dirty="0"/>
          </a:p>
        </p:txBody>
      </p:sp>
      <p:sp>
        <p:nvSpPr>
          <p:cNvPr id="18" name="Text 14"/>
          <p:cNvSpPr/>
          <p:nvPr/>
        </p:nvSpPr>
        <p:spPr>
          <a:xfrm>
            <a:off x="8293608" y="2487168"/>
            <a:ext cx="3154680" cy="457200"/>
          </a:xfrm>
          <a:prstGeom prst="rect">
            <a:avLst/>
          </a:prstGeom>
          <a:noFill/>
          <a:ln/>
        </p:spPr>
        <p:txBody>
          <a:bodyPr wrap="square" lIns="0" tIns="0" rIns="0" bIns="0" rtlCol="0" anchor="t"/>
          <a:lstStyle/>
          <a:p>
            <a:pPr marL="0" indent="0">
              <a:buNone/>
            </a:pPr>
            <a:r>
              <a:rPr lang="en-US" sz="1200" dirty="0">
                <a:solidFill>
                  <a:srgbClr val="475569"/>
                </a:solidFill>
                <a:latin typeface="Segoe UI" pitchFamily="34" charset="0"/>
                <a:ea typeface="Segoe UI" pitchFamily="34" charset="-122"/>
                <a:cs typeface="Segoe UI" pitchFamily="34" charset="-120"/>
              </a:rPr>
              <a:t>bought from one category (1,143)</a:t>
            </a:r>
            <a:endParaRPr lang="en-US" sz="1200" dirty="0"/>
          </a:p>
        </p:txBody>
      </p:sp>
      <p:pic>
        <p:nvPicPr>
          <p:cNvPr id="19" name="Image 2" descr="C:\Users\ongoj\OneDrive\Documents\+MachineLearning\MFML\artifacts\finmark_visual_first_refinement\baseline\media\s6_Picture_75.png"/>
          <p:cNvPicPr>
            <a:picLocks noChangeAspect="1"/>
          </p:cNvPicPr>
          <p:nvPr/>
        </p:nvPicPr>
        <p:blipFill>
          <a:blip r:embed="rId5"/>
          <a:stretch>
            <a:fillRect/>
          </a:stretch>
        </p:blipFill>
        <p:spPr>
          <a:xfrm>
            <a:off x="8540496" y="3017520"/>
            <a:ext cx="2615184" cy="2199063"/>
          </a:xfrm>
          <a:prstGeom prst="rect">
            <a:avLst/>
          </a:prstGeom>
        </p:spPr>
      </p:pic>
      <p:sp>
        <p:nvSpPr>
          <p:cNvPr id="20" name="Shape 15"/>
          <p:cNvSpPr/>
          <p:nvPr/>
        </p:nvSpPr>
        <p:spPr>
          <a:xfrm>
            <a:off x="566928" y="5760720"/>
            <a:ext cx="11064240" cy="457200"/>
          </a:xfrm>
          <a:prstGeom prst="rect">
            <a:avLst/>
          </a:prstGeom>
          <a:solidFill>
            <a:srgbClr val="F4F8F7"/>
          </a:solidFill>
          <a:ln w="12700">
            <a:solidFill>
              <a:srgbClr val="F4F8F7"/>
            </a:solidFill>
            <a:prstDash val="solid"/>
          </a:ln>
        </p:spPr>
        <p:txBody>
          <a:bodyPr/>
          <a:lstStyle/>
          <a:p>
            <a:endParaRPr lang="en-US"/>
          </a:p>
        </p:txBody>
      </p:sp>
      <p:sp>
        <p:nvSpPr>
          <p:cNvPr id="21" name="Text 16"/>
          <p:cNvSpPr/>
          <p:nvPr/>
        </p:nvSpPr>
        <p:spPr>
          <a:xfrm>
            <a:off x="777240" y="5760720"/>
            <a:ext cx="10698480" cy="457200"/>
          </a:xfrm>
          <a:prstGeom prst="rect">
            <a:avLst/>
          </a:prstGeom>
          <a:noFill/>
          <a:ln/>
        </p:spPr>
        <p:txBody>
          <a:bodyPr wrap="square" lIns="0" tIns="0" rIns="0" bIns="0" rtlCol="0" anchor="ctr"/>
          <a:lstStyle/>
          <a:p>
            <a:pPr marL="0" indent="0">
              <a:buNone/>
            </a:pPr>
            <a:r>
              <a:rPr lang="en-US" sz="1400" b="1" dirty="0">
                <a:solidFill>
                  <a:srgbClr val="0F766E"/>
                </a:solidFill>
                <a:latin typeface="Segoe UI" pitchFamily="34" charset="0"/>
                <a:ea typeface="Segoe UI" pitchFamily="34" charset="-122"/>
                <a:cs typeface="Segoe UI" pitchFamily="34" charset="-120"/>
              </a:rPr>
              <a:t>These differences make customer grouping worth investigating. They do not prove clusters exist.</a:t>
            </a:r>
            <a:endParaRPr lang="en-US" sz="1400" dirty="0"/>
          </a:p>
        </p:txBody>
      </p:sp>
      <p:sp>
        <p:nvSpPr>
          <p:cNvPr id="22" name="Shape 17"/>
          <p:cNvSpPr/>
          <p:nvPr/>
        </p:nvSpPr>
        <p:spPr>
          <a:xfrm>
            <a:off x="566928" y="6373368"/>
            <a:ext cx="11064240" cy="0"/>
          </a:xfrm>
          <a:prstGeom prst="line">
            <a:avLst/>
          </a:prstGeom>
          <a:noFill/>
          <a:ln w="12700">
            <a:solidFill>
              <a:srgbClr val="E2E8F0"/>
            </a:solidFill>
            <a:prstDash val="solid"/>
          </a:ln>
        </p:spPr>
        <p:txBody>
          <a:bodyPr/>
          <a:lstStyle/>
          <a:p>
            <a:endParaRPr lang="en-US"/>
          </a:p>
        </p:txBody>
      </p:sp>
      <p:sp>
        <p:nvSpPr>
          <p:cNvPr id="23" name="Text 18"/>
          <p:cNvSpPr/>
          <p:nvPr/>
        </p:nvSpPr>
        <p:spPr>
          <a:xfrm>
            <a:off x="566928" y="6446520"/>
            <a:ext cx="4114800" cy="22860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FINMARK  |  TEAM 3  |  MO-IT162</a:t>
            </a:r>
            <a:endParaRPr lang="en-US" sz="1000" dirty="0"/>
          </a:p>
        </p:txBody>
      </p:sp>
      <p:sp>
        <p:nvSpPr>
          <p:cNvPr id="24" name="Text 19"/>
          <p:cNvSpPr/>
          <p:nvPr/>
        </p:nvSpPr>
        <p:spPr>
          <a:xfrm>
            <a:off x="4206240" y="6446520"/>
            <a:ext cx="6583680"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2,420 cleaned transactions | customer-level recomputation</a:t>
            </a:r>
            <a:endParaRPr lang="en-US" sz="1000" dirty="0"/>
          </a:p>
        </p:txBody>
      </p:sp>
      <p:sp>
        <p:nvSpPr>
          <p:cNvPr id="25" name="Text 20"/>
          <p:cNvSpPr/>
          <p:nvPr/>
        </p:nvSpPr>
        <p:spPr>
          <a:xfrm>
            <a:off x="10881360" y="6446520"/>
            <a:ext cx="749808"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06 / 09</a:t>
            </a:r>
            <a:endParaRPr lang="en-US" sz="1000" dirty="0"/>
          </a:p>
        </p:txBody>
      </p:sp>
      <p:pic>
        <p:nvPicPr>
          <p:cNvPr id="28" name="Image 2" descr="C:\Users\ongoj\OneDrive\Documents\+MachineLearning\MFML\artifacts\finmark_visual_first_refinement\baseline\media\s6_Picture_75.png"/>
          <p:cNvPicPr>
            <a:picLocks noChangeAspect="1"/>
          </p:cNvPicPr>
          <p:nvPr/>
        </p:nvPicPr>
        <p:blipFill>
          <a:blip r:embed="rId5"/>
          <a:stretch>
            <a:fillRect/>
          </a:stretch>
        </p:blipFill>
        <p:spPr>
          <a:xfrm>
            <a:off x="8540496" y="3017520"/>
            <a:ext cx="2615184" cy="2199063"/>
          </a:xfrm>
          <a:prstGeom prst="rect">
            <a:avLst/>
          </a:prstGeom>
        </p:spPr>
      </p:pic>
      <p:sp>
        <p:nvSpPr>
          <p:cNvPr id="29" name="Shape 15"/>
          <p:cNvSpPr/>
          <p:nvPr/>
        </p:nvSpPr>
        <p:spPr>
          <a:xfrm>
            <a:off x="566928" y="5760720"/>
            <a:ext cx="11064240" cy="457200"/>
          </a:xfrm>
          <a:prstGeom prst="rect">
            <a:avLst/>
          </a:prstGeom>
          <a:solidFill>
            <a:srgbClr val="F4F8F7"/>
          </a:solidFill>
          <a:ln w="12700">
            <a:solidFill>
              <a:srgbClr val="F4F8F7"/>
            </a:solidFill>
            <a:prstDash val="solid"/>
          </a:ln>
        </p:spPr>
        <p:txBody>
          <a:bodyPr/>
          <a:lstStyle/>
          <a:p>
            <a:endParaRPr lang="en-US"/>
          </a:p>
        </p:txBody>
      </p:sp>
      <p:sp>
        <p:nvSpPr>
          <p:cNvPr id="30" name="Text 16"/>
          <p:cNvSpPr/>
          <p:nvPr/>
        </p:nvSpPr>
        <p:spPr>
          <a:xfrm>
            <a:off x="777240" y="5760720"/>
            <a:ext cx="10698480" cy="457200"/>
          </a:xfrm>
          <a:prstGeom prst="rect">
            <a:avLst/>
          </a:prstGeom>
          <a:noFill/>
          <a:ln/>
        </p:spPr>
        <p:txBody>
          <a:bodyPr wrap="square" lIns="0" tIns="0" rIns="0" bIns="0" rtlCol="0" anchor="ctr"/>
          <a:lstStyle/>
          <a:p>
            <a:pPr marL="0" indent="0">
              <a:buNone/>
            </a:pPr>
            <a:r>
              <a:rPr lang="en-US" sz="1400" b="1" dirty="0">
                <a:solidFill>
                  <a:srgbClr val="0F766E"/>
                </a:solidFill>
                <a:latin typeface="Segoe UI" pitchFamily="34" charset="0"/>
                <a:ea typeface="Segoe UI" pitchFamily="34" charset="-122"/>
                <a:cs typeface="Segoe UI" pitchFamily="34" charset="-120"/>
              </a:rPr>
              <a:t>These differences make customer grouping worth investigating. They do not prove clusters exist.</a:t>
            </a:r>
            <a:endParaRPr lang="en-US" sz="1400" dirty="0"/>
          </a:p>
        </p:txBody>
      </p:sp>
      <p:sp>
        <p:nvSpPr>
          <p:cNvPr id="31" name="Shape 17"/>
          <p:cNvSpPr/>
          <p:nvPr/>
        </p:nvSpPr>
        <p:spPr>
          <a:xfrm>
            <a:off x="566928" y="6373368"/>
            <a:ext cx="11064240" cy="0"/>
          </a:xfrm>
          <a:prstGeom prst="line">
            <a:avLst/>
          </a:prstGeom>
          <a:noFill/>
          <a:ln w="12700">
            <a:solidFill>
              <a:srgbClr val="E2E8F0"/>
            </a:solidFill>
            <a:prstDash val="solid"/>
          </a:ln>
        </p:spPr>
        <p:txBody>
          <a:bodyPr/>
          <a:lstStyle/>
          <a:p>
            <a:endParaRPr lang="en-US"/>
          </a:p>
        </p:txBody>
      </p:sp>
      <p:sp>
        <p:nvSpPr>
          <p:cNvPr id="32" name="Text 18"/>
          <p:cNvSpPr/>
          <p:nvPr/>
        </p:nvSpPr>
        <p:spPr>
          <a:xfrm>
            <a:off x="566928" y="6446520"/>
            <a:ext cx="4114800" cy="22860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FINMARK  |  TEAM 3  |  MO-IT162</a:t>
            </a:r>
            <a:endParaRPr lang="en-US" sz="1000" dirty="0"/>
          </a:p>
        </p:txBody>
      </p:sp>
      <p:sp>
        <p:nvSpPr>
          <p:cNvPr id="33" name="Text 19"/>
          <p:cNvSpPr/>
          <p:nvPr/>
        </p:nvSpPr>
        <p:spPr>
          <a:xfrm>
            <a:off x="4206240" y="6446520"/>
            <a:ext cx="6583680"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2,420 cleaned transactions | customer-level recomputation</a:t>
            </a:r>
            <a:endParaRPr lang="en-US" sz="1000" dirty="0"/>
          </a:p>
        </p:txBody>
      </p:sp>
      <p:sp>
        <p:nvSpPr>
          <p:cNvPr id="34" name="Text 20"/>
          <p:cNvSpPr/>
          <p:nvPr/>
        </p:nvSpPr>
        <p:spPr>
          <a:xfrm>
            <a:off x="10881360" y="6446520"/>
            <a:ext cx="749808"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06 / 09</a:t>
            </a:r>
            <a:endParaRPr lang="en-US" sz="1000" dirty="0"/>
          </a:p>
        </p:txBody>
      </p:sp>
      <p:pic>
        <p:nvPicPr>
          <p:cNvPr id="39" name="Image 0" descr="C:\Users\ongoj\OneDrive\Documents\+MachineLearning\MFML\artifacts\finmark_visual_first_refinement\baseline\media\s1_Picture_25.png">
            <a:extLst>
              <a:ext uri="{FF2B5EF4-FFF2-40B4-BE49-F238E27FC236}">
                <a16:creationId xmlns:a16="http://schemas.microsoft.com/office/drawing/2014/main" id="{C69B7CDC-6E10-F5E5-A36C-087A15BCD7EF}"/>
              </a:ext>
            </a:extLst>
          </p:cNvPr>
          <p:cNvPicPr>
            <a:picLocks noChangeAspect="1"/>
          </p:cNvPicPr>
          <p:nvPr/>
        </p:nvPicPr>
        <p:blipFill>
          <a:blip r:embed="rId6">
            <a:duotone>
              <a:prstClr val="black"/>
              <a:schemeClr val="accent1">
                <a:tint val="45000"/>
                <a:satMod val="400000"/>
              </a:schemeClr>
            </a:duotone>
            <a:alphaModFix amt="20000"/>
            <a:extLst>
              <a:ext uri="{BEBA8EAE-BF5A-486C-A8C5-ECC9F3942E4B}">
                <a14:imgProps xmlns:a14="http://schemas.microsoft.com/office/drawing/2010/main">
                  <a14:imgLayer r:embed="rId7">
                    <a14:imgEffect>
                      <a14:artisticCement/>
                    </a14:imgEffect>
                  </a14:imgLayer>
                </a14:imgProps>
              </a:ext>
            </a:extLst>
          </a:blip>
          <a:stretch>
            <a:fillRect/>
          </a:stretch>
        </p:blipFill>
        <p:spPr>
          <a:xfrm>
            <a:off x="2779778" y="310898"/>
            <a:ext cx="6291070" cy="6291070"/>
          </a:xfrm>
          <a:prstGeom prst="rect">
            <a:avLst/>
          </a:prstGeom>
          <a:scene3d>
            <a:camera prst="perspectiveContrastingLeftFacing"/>
            <a:lightRig rig="threePt" dir="t"/>
          </a:scene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144000" cy="274320"/>
          </a:xfrm>
          <a:prstGeom prst="rect">
            <a:avLst/>
          </a:prstGeom>
          <a:noFill/>
          <a:ln/>
        </p:spPr>
        <p:txBody>
          <a:bodyPr wrap="square" lIns="0" tIns="0" rIns="0" bIns="0" rtlCol="0" anchor="t"/>
          <a:lstStyle/>
          <a:p>
            <a:pPr marL="0" indent="0">
              <a:buNone/>
            </a:pPr>
            <a:r>
              <a:rPr lang="en-US" sz="1200" b="1" kern="0" spc="100" dirty="0">
                <a:solidFill>
                  <a:srgbClr val="0F766E"/>
                </a:solidFill>
                <a:latin typeface="Segoe UI" pitchFamily="34" charset="0"/>
                <a:ea typeface="Segoe UI" pitchFamily="34" charset="-122"/>
                <a:cs typeface="Segoe UI" pitchFamily="34" charset="-120"/>
              </a:rPr>
              <a:t>06  CUSTOMER BEHAVIOR</a:t>
            </a:r>
            <a:endParaRPr lang="en-US" sz="1200" dirty="0"/>
          </a:p>
        </p:txBody>
      </p:sp>
      <p:sp>
        <p:nvSpPr>
          <p:cNvPr id="3" name="Text 1"/>
          <p:cNvSpPr/>
          <p:nvPr/>
        </p:nvSpPr>
        <p:spPr>
          <a:xfrm>
            <a:off x="566928" y="713232"/>
            <a:ext cx="11064240" cy="640080"/>
          </a:xfrm>
          <a:prstGeom prst="rect">
            <a:avLst/>
          </a:prstGeom>
          <a:noFill/>
          <a:ln/>
        </p:spPr>
        <p:txBody>
          <a:bodyPr wrap="square" lIns="0" tIns="0" rIns="0" bIns="0" rtlCol="0" anchor="t"/>
          <a:lstStyle/>
          <a:p>
            <a:pPr marL="0" indent="0">
              <a:buNone/>
            </a:pPr>
            <a:r>
              <a:rPr lang="en-US" sz="2800" b="1" dirty="0">
                <a:solidFill>
                  <a:srgbClr val="1D3557"/>
                </a:solidFill>
                <a:latin typeface="Segoe UI" pitchFamily="34" charset="0"/>
                <a:ea typeface="Segoe UI" pitchFamily="34" charset="-122"/>
                <a:cs typeface="Segoe UI" pitchFamily="34" charset="-120"/>
              </a:rPr>
              <a:t>Small differences, and no strong spending link</a:t>
            </a:r>
            <a:endParaRPr lang="en-US" sz="2800" dirty="0"/>
          </a:p>
        </p:txBody>
      </p:sp>
      <p:sp>
        <p:nvSpPr>
          <p:cNvPr id="4" name="Shape 2"/>
          <p:cNvSpPr/>
          <p:nvPr/>
        </p:nvSpPr>
        <p:spPr>
          <a:xfrm>
            <a:off x="566928" y="1554480"/>
            <a:ext cx="5394960" cy="4069080"/>
          </a:xfrm>
          <a:prstGeom prst="rect">
            <a:avLst/>
          </a:prstGeom>
          <a:solidFill>
            <a:srgbClr val="FFFFFF"/>
          </a:solidFill>
          <a:ln w="12700">
            <a:solidFill>
              <a:srgbClr val="E2E8F0"/>
            </a:solidFill>
            <a:prstDash val="solid"/>
          </a:ln>
        </p:spPr>
        <p:txBody>
          <a:bodyPr/>
          <a:lstStyle/>
          <a:p>
            <a:endParaRPr lang="en-US"/>
          </a:p>
        </p:txBody>
      </p:sp>
      <p:sp>
        <p:nvSpPr>
          <p:cNvPr id="5" name="Shape 3"/>
          <p:cNvSpPr/>
          <p:nvPr/>
        </p:nvSpPr>
        <p:spPr>
          <a:xfrm>
            <a:off x="566928" y="1554480"/>
            <a:ext cx="5394960" cy="54864"/>
          </a:xfrm>
          <a:prstGeom prst="rect">
            <a:avLst/>
          </a:prstGeom>
          <a:solidFill>
            <a:srgbClr val="0F766E"/>
          </a:solidFill>
          <a:ln w="12700">
            <a:solidFill>
              <a:srgbClr val="0F766E"/>
            </a:solidFill>
            <a:prstDash val="solid"/>
          </a:ln>
        </p:spPr>
        <p:txBody>
          <a:bodyPr/>
          <a:lstStyle/>
          <a:p>
            <a:endParaRPr lang="en-US"/>
          </a:p>
        </p:txBody>
      </p:sp>
      <p:sp>
        <p:nvSpPr>
          <p:cNvPr id="6" name="Text 4"/>
          <p:cNvSpPr/>
          <p:nvPr/>
        </p:nvSpPr>
        <p:spPr>
          <a:xfrm>
            <a:off x="795528" y="1755648"/>
            <a:ext cx="4937760" cy="274320"/>
          </a:xfrm>
          <a:prstGeom prst="rect">
            <a:avLst/>
          </a:prstGeom>
          <a:noFill/>
          <a:ln/>
        </p:spPr>
        <p:txBody>
          <a:bodyPr wrap="square" lIns="0" tIns="0" rIns="0" bIns="0" rtlCol="0" anchor="t"/>
          <a:lstStyle/>
          <a:p>
            <a:pPr marL="0" indent="0">
              <a:buNone/>
            </a:pPr>
            <a:r>
              <a:rPr lang="en-US" sz="1100" b="1" kern="0" spc="100" dirty="0">
                <a:solidFill>
                  <a:srgbClr val="475569"/>
                </a:solidFill>
                <a:latin typeface="Segoe UI" pitchFamily="34" charset="0"/>
                <a:ea typeface="Segoe UI" pitchFamily="34" charset="-122"/>
                <a:cs typeface="Segoe UI" pitchFamily="34" charset="-120"/>
              </a:rPr>
              <a:t>HOME &amp; GARDEN BY RECORDED GENDER</a:t>
            </a:r>
            <a:endParaRPr lang="en-US" sz="1100" dirty="0"/>
          </a:p>
        </p:txBody>
      </p:sp>
      <p:sp>
        <p:nvSpPr>
          <p:cNvPr id="7" name="Text 5"/>
          <p:cNvSpPr/>
          <p:nvPr/>
        </p:nvSpPr>
        <p:spPr>
          <a:xfrm>
            <a:off x="795528" y="2057400"/>
            <a:ext cx="4937760" cy="411480"/>
          </a:xfrm>
          <a:prstGeom prst="rect">
            <a:avLst/>
          </a:prstGeom>
          <a:noFill/>
          <a:ln/>
        </p:spPr>
        <p:txBody>
          <a:bodyPr wrap="square" lIns="0" tIns="0" rIns="0" bIns="0" rtlCol="0" anchor="t"/>
          <a:lstStyle/>
          <a:p>
            <a:pPr marL="0" indent="0">
              <a:buNone/>
            </a:pPr>
            <a:r>
              <a:rPr lang="en-US" sz="2200" b="1" dirty="0">
                <a:solidFill>
                  <a:srgbClr val="0F766E"/>
                </a:solidFill>
                <a:latin typeface="Segoe UI" pitchFamily="34" charset="0"/>
                <a:ea typeface="Segoe UI" pitchFamily="34" charset="-122"/>
                <a:cs typeface="Segoe UI" pitchFamily="34" charset="-120"/>
              </a:rPr>
              <a:t>Small difference</a:t>
            </a:r>
            <a:endParaRPr lang="en-US" sz="2200" dirty="0"/>
          </a:p>
        </p:txBody>
      </p:sp>
      <p:pic>
        <p:nvPicPr>
          <p:cNvPr id="8" name="Image 0" descr="C:\Users\ongoj\OneDrive\Documents\+MachineLearning\MFML\artifacts\finmark_visual_first_refinement\baseline\media\s7_Image_0.png"/>
          <p:cNvPicPr>
            <a:picLocks noChangeAspect="1"/>
          </p:cNvPicPr>
          <p:nvPr/>
        </p:nvPicPr>
        <p:blipFill>
          <a:blip r:embed="rId3"/>
          <a:stretch>
            <a:fillRect/>
          </a:stretch>
        </p:blipFill>
        <p:spPr>
          <a:xfrm>
            <a:off x="1143000" y="2606040"/>
            <a:ext cx="4023360" cy="2764372"/>
          </a:xfrm>
          <a:prstGeom prst="rect">
            <a:avLst/>
          </a:prstGeom>
        </p:spPr>
      </p:pic>
      <p:pic>
        <p:nvPicPr>
          <p:cNvPr id="19" name="Image 0" descr="C:\Users\ongoj\OneDrive\Documents\+MachineLearning\MFML\artifacts\finmark_visual_first_refinement\baseline\media\s7_Image_0.png"/>
          <p:cNvPicPr>
            <a:picLocks noChangeAspect="1"/>
          </p:cNvPicPr>
          <p:nvPr/>
        </p:nvPicPr>
        <p:blipFill>
          <a:blip r:embed="rId3"/>
          <a:stretch>
            <a:fillRect/>
          </a:stretch>
        </p:blipFill>
        <p:spPr>
          <a:xfrm>
            <a:off x="1143000" y="2606040"/>
            <a:ext cx="4023360" cy="2764372"/>
          </a:xfrm>
          <a:prstGeom prst="rect">
            <a:avLst/>
          </a:prstGeom>
        </p:spPr>
      </p:pic>
      <p:sp>
        <p:nvSpPr>
          <p:cNvPr id="9" name="Shape 6"/>
          <p:cNvSpPr/>
          <p:nvPr/>
        </p:nvSpPr>
        <p:spPr>
          <a:xfrm>
            <a:off x="6217920" y="1554480"/>
            <a:ext cx="5413248" cy="4069080"/>
          </a:xfrm>
          <a:prstGeom prst="rect">
            <a:avLst/>
          </a:prstGeom>
          <a:solidFill>
            <a:srgbClr val="FFFFFF"/>
          </a:solidFill>
          <a:ln w="12700">
            <a:solidFill>
              <a:srgbClr val="E2E8F0"/>
            </a:solidFill>
            <a:prstDash val="solid"/>
          </a:ln>
        </p:spPr>
        <p:txBody>
          <a:bodyPr/>
          <a:lstStyle/>
          <a:p>
            <a:endParaRPr lang="en-US"/>
          </a:p>
        </p:txBody>
      </p:sp>
      <p:sp>
        <p:nvSpPr>
          <p:cNvPr id="10" name="Shape 7"/>
          <p:cNvSpPr/>
          <p:nvPr/>
        </p:nvSpPr>
        <p:spPr>
          <a:xfrm>
            <a:off x="6217920" y="1554480"/>
            <a:ext cx="5413248" cy="54864"/>
          </a:xfrm>
          <a:prstGeom prst="rect">
            <a:avLst/>
          </a:prstGeom>
          <a:solidFill>
            <a:srgbClr val="A76117"/>
          </a:solidFill>
          <a:ln w="12700">
            <a:solidFill>
              <a:srgbClr val="A76117"/>
            </a:solidFill>
            <a:prstDash val="solid"/>
          </a:ln>
        </p:spPr>
        <p:txBody>
          <a:bodyPr/>
          <a:lstStyle/>
          <a:p>
            <a:endParaRPr lang="en-US"/>
          </a:p>
        </p:txBody>
      </p:sp>
      <p:sp>
        <p:nvSpPr>
          <p:cNvPr id="11" name="Text 8"/>
          <p:cNvSpPr/>
          <p:nvPr/>
        </p:nvSpPr>
        <p:spPr>
          <a:xfrm>
            <a:off x="6446520" y="1755648"/>
            <a:ext cx="4937760" cy="274320"/>
          </a:xfrm>
          <a:prstGeom prst="rect">
            <a:avLst/>
          </a:prstGeom>
          <a:noFill/>
          <a:ln/>
        </p:spPr>
        <p:txBody>
          <a:bodyPr wrap="square" lIns="0" tIns="0" rIns="0" bIns="0" rtlCol="0" anchor="t"/>
          <a:lstStyle/>
          <a:p>
            <a:pPr marL="0" indent="0">
              <a:buNone/>
            </a:pPr>
            <a:r>
              <a:rPr lang="en-US" sz="1100" b="1" kern="0" spc="100" dirty="0">
                <a:solidFill>
                  <a:srgbClr val="475569"/>
                </a:solidFill>
                <a:latin typeface="Segoe UI" pitchFamily="34" charset="0"/>
                <a:ea typeface="Segoe UI" pitchFamily="34" charset="-122"/>
                <a:cs typeface="Segoe UI" pitchFamily="34" charset="-120"/>
              </a:rPr>
              <a:t>SOCIAL ACTIVITY VS. SPENDING</a:t>
            </a:r>
            <a:endParaRPr lang="en-US" sz="1100" dirty="0"/>
          </a:p>
        </p:txBody>
      </p:sp>
      <p:sp>
        <p:nvSpPr>
          <p:cNvPr id="12" name="Text 9"/>
          <p:cNvSpPr/>
          <p:nvPr/>
        </p:nvSpPr>
        <p:spPr>
          <a:xfrm>
            <a:off x="6446520" y="2057400"/>
            <a:ext cx="4937760" cy="411480"/>
          </a:xfrm>
          <a:prstGeom prst="rect">
            <a:avLst/>
          </a:prstGeom>
          <a:noFill/>
          <a:ln/>
        </p:spPr>
        <p:txBody>
          <a:bodyPr wrap="square" lIns="0" tIns="0" rIns="0" bIns="0" rtlCol="0" anchor="t"/>
          <a:lstStyle/>
          <a:p>
            <a:pPr marL="0" indent="0">
              <a:buNone/>
            </a:pPr>
            <a:r>
              <a:rPr lang="en-US" sz="2200" b="1" dirty="0">
                <a:solidFill>
                  <a:srgbClr val="A76117"/>
                </a:solidFill>
                <a:latin typeface="Segoe UI" pitchFamily="34" charset="0"/>
                <a:ea typeface="Segoe UI" pitchFamily="34" charset="-122"/>
                <a:cs typeface="Segoe UI" pitchFamily="34" charset="-120"/>
              </a:rPr>
              <a:t>No strong spending link</a:t>
            </a:r>
            <a:endParaRPr lang="en-US" sz="2200" dirty="0"/>
          </a:p>
        </p:txBody>
      </p:sp>
      <p:pic>
        <p:nvPicPr>
          <p:cNvPr id="13" name="Image 1" descr="C:\Users\ongoj\OneDrive\Documents\+MachineLearning\MFML\artifacts\finmark_visual_first_refinement\baseline\media\s7_Image_1.png"/>
          <p:cNvPicPr>
            <a:picLocks noChangeAspect="1"/>
          </p:cNvPicPr>
          <p:nvPr/>
        </p:nvPicPr>
        <p:blipFill>
          <a:blip r:embed="rId4"/>
          <a:stretch>
            <a:fillRect/>
          </a:stretch>
        </p:blipFill>
        <p:spPr>
          <a:xfrm>
            <a:off x="6492240" y="2651760"/>
            <a:ext cx="4983480" cy="2294292"/>
          </a:xfrm>
          <a:prstGeom prst="rect">
            <a:avLst/>
          </a:prstGeom>
        </p:spPr>
      </p:pic>
      <p:pic>
        <p:nvPicPr>
          <p:cNvPr id="20" name="Image 1" descr="C:\Users\ongoj\OneDrive\Documents\+MachineLearning\MFML\artifacts\finmark_visual_first_refinement\baseline\media\s7_Image_1.png"/>
          <p:cNvPicPr>
            <a:picLocks noChangeAspect="1"/>
          </p:cNvPicPr>
          <p:nvPr/>
        </p:nvPicPr>
        <p:blipFill>
          <a:blip r:embed="rId4"/>
          <a:stretch>
            <a:fillRect/>
          </a:stretch>
        </p:blipFill>
        <p:spPr>
          <a:xfrm>
            <a:off x="6492240" y="2651760"/>
            <a:ext cx="4983480" cy="2294292"/>
          </a:xfrm>
          <a:prstGeom prst="rect">
            <a:avLst/>
          </a:prstGeom>
        </p:spPr>
      </p:pic>
      <p:sp>
        <p:nvSpPr>
          <p:cNvPr id="14" name="Text 10"/>
          <p:cNvSpPr/>
          <p:nvPr/>
        </p:nvSpPr>
        <p:spPr>
          <a:xfrm>
            <a:off x="566928" y="5715000"/>
            <a:ext cx="11064240" cy="594360"/>
          </a:xfrm>
          <a:prstGeom prst="rect">
            <a:avLst/>
          </a:prstGeom>
          <a:noFill/>
          <a:ln/>
        </p:spPr>
        <p:txBody>
          <a:bodyPr wrap="square" lIns="0" tIns="0" rIns="0" bIns="0" rtlCol="0" anchor="t"/>
          <a:lstStyle/>
          <a:p>
            <a:pPr marL="0" indent="0">
              <a:buNone/>
            </a:pPr>
            <a:r>
              <a:rPr lang="en-US" sz="950" dirty="0">
                <a:solidFill>
                  <a:srgbClr val="475569"/>
                </a:solidFill>
                <a:latin typeface="Segoe UI" pitchFamily="34" charset="0"/>
                <a:ea typeface="Segoe UI" pitchFamily="34" charset="-122"/>
                <a:cs typeface="Segoe UI" pitchFamily="34" charset="-120"/>
              </a:rPr>
              <a:t>Home &amp; Garden: 1,306 customers with profiles and purchases, all dates. Adjusted p = 0.0361; Cramér's V = 0.0743 (very small). Exploratory, not a targeting rule.</a:t>
            </a:r>
            <a:endParaRPr lang="en-US" sz="950" dirty="0"/>
          </a:p>
          <a:p>
            <a:pPr marL="0" indent="0">
              <a:buNone/>
            </a:pPr>
            <a:r>
              <a:rPr lang="en-US" sz="950" dirty="0">
                <a:solidFill>
                  <a:srgbClr val="475569"/>
                </a:solidFill>
                <a:latin typeface="Segoe UI" pitchFamily="34" charset="0"/>
                <a:ea typeface="Segoe UI" pitchFamily="34" charset="-122"/>
                <a:cs typeface="Segoe UI" pitchFamily="34" charset="-120"/>
              </a:rPr>
              <a:t>Social: 564 customers, Jul 2023 to Jun 2024. Pearson r: total amount 0.068 (p = 0.108); purchases 0.055 (p = 0.195); average amount 0.035 (p = 0.401). Very weak; not statistically significant.</a:t>
            </a:r>
            <a:endParaRPr lang="en-US" sz="950" dirty="0"/>
          </a:p>
        </p:txBody>
      </p:sp>
      <p:sp>
        <p:nvSpPr>
          <p:cNvPr id="15" name="Shape 11"/>
          <p:cNvSpPr/>
          <p:nvPr/>
        </p:nvSpPr>
        <p:spPr>
          <a:xfrm>
            <a:off x="566928" y="6373368"/>
            <a:ext cx="11064240" cy="0"/>
          </a:xfrm>
          <a:prstGeom prst="line">
            <a:avLst/>
          </a:prstGeom>
          <a:noFill/>
          <a:ln w="12700">
            <a:solidFill>
              <a:srgbClr val="E2E8F0"/>
            </a:solidFill>
            <a:prstDash val="solid"/>
          </a:ln>
        </p:spPr>
        <p:txBody>
          <a:bodyPr/>
          <a:lstStyle/>
          <a:p>
            <a:endParaRPr lang="en-US"/>
          </a:p>
        </p:txBody>
      </p:sp>
      <p:sp>
        <p:nvSpPr>
          <p:cNvPr id="16" name="Text 12"/>
          <p:cNvSpPr/>
          <p:nvPr/>
        </p:nvSpPr>
        <p:spPr>
          <a:xfrm>
            <a:off x="566928" y="6446520"/>
            <a:ext cx="4114800" cy="22860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FINMARK  |  TEAM 3  |  MO-IT162</a:t>
            </a:r>
            <a:endParaRPr lang="en-US" sz="1000" dirty="0"/>
          </a:p>
        </p:txBody>
      </p:sp>
      <p:sp>
        <p:nvSpPr>
          <p:cNvPr id="17" name="Text 13"/>
          <p:cNvSpPr/>
          <p:nvPr/>
        </p:nvSpPr>
        <p:spPr>
          <a:xfrm>
            <a:off x="4206240" y="6446520"/>
            <a:ext cx="6583680"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FinMark customer records and calculations</a:t>
            </a:r>
            <a:endParaRPr lang="en-US" sz="1000" dirty="0"/>
          </a:p>
        </p:txBody>
      </p:sp>
      <p:sp>
        <p:nvSpPr>
          <p:cNvPr id="18" name="Text 14"/>
          <p:cNvSpPr/>
          <p:nvPr/>
        </p:nvSpPr>
        <p:spPr>
          <a:xfrm>
            <a:off x="10881360" y="6446520"/>
            <a:ext cx="749808"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07 / 09</a:t>
            </a:r>
            <a:endParaRPr lang="en-US" sz="1000" dirty="0"/>
          </a:p>
        </p:txBody>
      </p:sp>
      <p:pic>
        <p:nvPicPr>
          <p:cNvPr id="25" name="Image 0" descr="C:\Users\ongoj\OneDrive\Documents\+MachineLearning\MFML\artifacts\finmark_visual_first_refinement\baseline\media\s1_Picture_25.png">
            <a:extLst>
              <a:ext uri="{FF2B5EF4-FFF2-40B4-BE49-F238E27FC236}">
                <a16:creationId xmlns:a16="http://schemas.microsoft.com/office/drawing/2014/main" id="{87A0A133-E22B-23B5-E87F-6138574CDBDD}"/>
              </a:ext>
            </a:extLst>
          </p:cNvPr>
          <p:cNvPicPr>
            <a:picLocks noChangeAspect="1"/>
          </p:cNvPicPr>
          <p:nvPr/>
        </p:nvPicPr>
        <p:blipFill>
          <a:blip r:embed="rId5">
            <a:duotone>
              <a:prstClr val="black"/>
              <a:schemeClr val="accent1">
                <a:tint val="45000"/>
                <a:satMod val="400000"/>
              </a:schemeClr>
            </a:duotone>
            <a:alphaModFix amt="20000"/>
            <a:extLst>
              <a:ext uri="{BEBA8EAE-BF5A-486C-A8C5-ECC9F3942E4B}">
                <a14:imgProps xmlns:a14="http://schemas.microsoft.com/office/drawing/2010/main">
                  <a14:imgLayer r:embed="rId6">
                    <a14:imgEffect>
                      <a14:artisticCement/>
                    </a14:imgEffect>
                  </a14:imgLayer>
                </a14:imgProps>
              </a:ext>
            </a:extLst>
          </a:blip>
          <a:stretch>
            <a:fillRect/>
          </a:stretch>
        </p:blipFill>
        <p:spPr>
          <a:xfrm>
            <a:off x="2779778" y="310898"/>
            <a:ext cx="6291070" cy="6291070"/>
          </a:xfrm>
          <a:prstGeom prst="rect">
            <a:avLst/>
          </a:prstGeom>
          <a:scene3d>
            <a:camera prst="perspectiveContrastingLeftFacing"/>
            <a:lightRig rig="threePt" dir="t"/>
          </a:scene3d>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144000" cy="274320"/>
          </a:xfrm>
          <a:prstGeom prst="rect">
            <a:avLst/>
          </a:prstGeom>
          <a:noFill/>
          <a:ln/>
        </p:spPr>
        <p:txBody>
          <a:bodyPr wrap="square" lIns="0" tIns="0" rIns="0" bIns="0" rtlCol="0" anchor="t"/>
          <a:lstStyle/>
          <a:p>
            <a:pPr marL="0" indent="0">
              <a:buNone/>
            </a:pPr>
            <a:r>
              <a:rPr lang="en-US" sz="1200" b="1" kern="0" spc="100" dirty="0">
                <a:solidFill>
                  <a:srgbClr val="0F766E"/>
                </a:solidFill>
                <a:latin typeface="Segoe UI" pitchFamily="34" charset="0"/>
                <a:ea typeface="Segoe UI" pitchFamily="34" charset="-122"/>
                <a:cs typeface="Segoe UI" pitchFamily="34" charset="-120"/>
              </a:rPr>
              <a:t>07  WHAT COMES NEXT</a:t>
            </a:r>
            <a:endParaRPr lang="en-US" sz="1200" dirty="0"/>
          </a:p>
        </p:txBody>
      </p:sp>
      <p:sp>
        <p:nvSpPr>
          <p:cNvPr id="3" name="Text 1"/>
          <p:cNvSpPr/>
          <p:nvPr/>
        </p:nvSpPr>
        <p:spPr>
          <a:xfrm>
            <a:off x="566928" y="713232"/>
            <a:ext cx="11064240" cy="640080"/>
          </a:xfrm>
          <a:prstGeom prst="rect">
            <a:avLst/>
          </a:prstGeom>
          <a:noFill/>
          <a:ln/>
        </p:spPr>
        <p:txBody>
          <a:bodyPr wrap="square" lIns="0" tIns="0" rIns="0" bIns="0" rtlCol="0" anchor="t"/>
          <a:lstStyle/>
          <a:p>
            <a:pPr marL="0" indent="0">
              <a:buNone/>
            </a:pPr>
            <a:r>
              <a:rPr lang="en-US" sz="2800" b="1" dirty="0">
                <a:solidFill>
                  <a:srgbClr val="1D3557"/>
                </a:solidFill>
                <a:latin typeface="Segoe UI" pitchFamily="34" charset="0"/>
                <a:ea typeface="Segoe UI" pitchFamily="34" charset="-122"/>
                <a:cs typeface="Segoe UI" pitchFamily="34" charset="-120"/>
              </a:rPr>
              <a:t>The three-month average missed less, but still missed</a:t>
            </a:r>
            <a:endParaRPr lang="en-US" sz="2800" dirty="0"/>
          </a:p>
        </p:txBody>
      </p:sp>
      <p:sp>
        <p:nvSpPr>
          <p:cNvPr id="4" name="Text 2"/>
          <p:cNvSpPr/>
          <p:nvPr/>
        </p:nvSpPr>
        <p:spPr>
          <a:xfrm>
            <a:off x="566928" y="1737360"/>
            <a:ext cx="4572000" cy="274320"/>
          </a:xfrm>
          <a:prstGeom prst="rect">
            <a:avLst/>
          </a:prstGeom>
          <a:noFill/>
          <a:ln/>
        </p:spPr>
        <p:txBody>
          <a:bodyPr wrap="square" lIns="0" tIns="0" rIns="0" bIns="0" rtlCol="0" anchor="t"/>
          <a:lstStyle/>
          <a:p>
            <a:pPr marL="0" indent="0">
              <a:buNone/>
            </a:pPr>
            <a:r>
              <a:rPr lang="en-US" sz="1100" b="1" kern="0" spc="100" dirty="0">
                <a:solidFill>
                  <a:srgbClr val="475569"/>
                </a:solidFill>
                <a:latin typeface="Segoe UI" pitchFamily="34" charset="0"/>
                <a:ea typeface="Segoe UI" pitchFamily="34" charset="-122"/>
                <a:cs typeface="Segoe UI" pitchFamily="34" charset="-120"/>
              </a:rPr>
              <a:t>WHAT FINMARK CAN DO NOW</a:t>
            </a:r>
            <a:endParaRPr lang="en-US" sz="1100" dirty="0"/>
          </a:p>
        </p:txBody>
      </p:sp>
      <p:sp>
        <p:nvSpPr>
          <p:cNvPr id="5" name="Shape 3"/>
          <p:cNvSpPr/>
          <p:nvPr/>
        </p:nvSpPr>
        <p:spPr>
          <a:xfrm>
            <a:off x="566928" y="2194560"/>
            <a:ext cx="548640" cy="548640"/>
          </a:xfrm>
          <a:prstGeom prst="ellipse">
            <a:avLst/>
          </a:prstGeom>
          <a:solidFill>
            <a:srgbClr val="0F766E"/>
          </a:solidFill>
          <a:ln w="12700">
            <a:solidFill>
              <a:srgbClr val="0F766E"/>
            </a:solidFill>
            <a:prstDash val="solid"/>
          </a:ln>
        </p:spPr>
        <p:txBody>
          <a:bodyPr/>
          <a:lstStyle/>
          <a:p>
            <a:endParaRPr lang="en-US"/>
          </a:p>
        </p:txBody>
      </p:sp>
      <p:sp>
        <p:nvSpPr>
          <p:cNvPr id="6" name="Text 4"/>
          <p:cNvSpPr/>
          <p:nvPr/>
        </p:nvSpPr>
        <p:spPr>
          <a:xfrm>
            <a:off x="566928" y="219456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01</a:t>
            </a:r>
            <a:endParaRPr lang="en-US" sz="1300" dirty="0"/>
          </a:p>
        </p:txBody>
      </p:sp>
      <p:sp>
        <p:nvSpPr>
          <p:cNvPr id="7" name="Text 5"/>
          <p:cNvSpPr/>
          <p:nvPr/>
        </p:nvSpPr>
        <p:spPr>
          <a:xfrm>
            <a:off x="1325880" y="2194560"/>
            <a:ext cx="4297680" cy="548640"/>
          </a:xfrm>
          <a:prstGeom prst="rect">
            <a:avLst/>
          </a:prstGeom>
          <a:noFill/>
          <a:ln/>
        </p:spPr>
        <p:txBody>
          <a:bodyPr wrap="square" lIns="0" tIns="0" rIns="0" bIns="0" rtlCol="0" anchor="ctr"/>
          <a:lstStyle/>
          <a:p>
            <a:pPr marL="0" indent="0">
              <a:buNone/>
            </a:pPr>
            <a:r>
              <a:rPr lang="en-US" sz="1700" b="1" dirty="0">
                <a:solidFill>
                  <a:srgbClr val="1D3557"/>
                </a:solidFill>
                <a:latin typeface="Segoe UI" pitchFamily="34" charset="0"/>
                <a:ea typeface="Segoe UI" pitchFamily="34" charset="-122"/>
                <a:cs typeface="Segoe UI" pitchFamily="34" charset="-120"/>
              </a:rPr>
              <a:t>Track purchases over time</a:t>
            </a:r>
            <a:endParaRPr lang="en-US" sz="1700" dirty="0"/>
          </a:p>
        </p:txBody>
      </p:sp>
      <p:sp>
        <p:nvSpPr>
          <p:cNvPr id="8" name="Shape 6"/>
          <p:cNvSpPr/>
          <p:nvPr/>
        </p:nvSpPr>
        <p:spPr>
          <a:xfrm>
            <a:off x="566928" y="3246120"/>
            <a:ext cx="548640" cy="548640"/>
          </a:xfrm>
          <a:prstGeom prst="ellipse">
            <a:avLst/>
          </a:prstGeom>
          <a:solidFill>
            <a:srgbClr val="0F766E"/>
          </a:solidFill>
          <a:ln w="12700">
            <a:solidFill>
              <a:srgbClr val="0F766E"/>
            </a:solidFill>
            <a:prstDash val="solid"/>
          </a:ln>
        </p:spPr>
        <p:txBody>
          <a:bodyPr/>
          <a:lstStyle/>
          <a:p>
            <a:endParaRPr lang="en-US"/>
          </a:p>
        </p:txBody>
      </p:sp>
      <p:sp>
        <p:nvSpPr>
          <p:cNvPr id="9" name="Text 7"/>
          <p:cNvSpPr/>
          <p:nvPr/>
        </p:nvSpPr>
        <p:spPr>
          <a:xfrm>
            <a:off x="566928" y="324612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02</a:t>
            </a:r>
            <a:endParaRPr lang="en-US" sz="1300" dirty="0"/>
          </a:p>
        </p:txBody>
      </p:sp>
      <p:sp>
        <p:nvSpPr>
          <p:cNvPr id="10" name="Text 8"/>
          <p:cNvSpPr/>
          <p:nvPr/>
        </p:nvSpPr>
        <p:spPr>
          <a:xfrm>
            <a:off x="1325880" y="3246120"/>
            <a:ext cx="4297680" cy="548640"/>
          </a:xfrm>
          <a:prstGeom prst="rect">
            <a:avLst/>
          </a:prstGeom>
          <a:noFill/>
          <a:ln/>
        </p:spPr>
        <p:txBody>
          <a:bodyPr wrap="square" lIns="0" tIns="0" rIns="0" bIns="0" rtlCol="0" anchor="ctr"/>
          <a:lstStyle/>
          <a:p>
            <a:pPr marL="0" indent="0">
              <a:buNone/>
            </a:pPr>
            <a:r>
              <a:rPr lang="en-US" sz="1700" b="1" dirty="0">
                <a:solidFill>
                  <a:srgbClr val="1D3557"/>
                </a:solidFill>
                <a:latin typeface="Segoe UI" pitchFamily="34" charset="0"/>
                <a:ea typeface="Segoe UI" pitchFamily="34" charset="-122"/>
                <a:cs typeface="Segoe UI" pitchFamily="34" charset="-120"/>
              </a:rPr>
              <a:t>Study what customers actually buy</a:t>
            </a:r>
            <a:endParaRPr lang="en-US" sz="1700" dirty="0"/>
          </a:p>
        </p:txBody>
      </p:sp>
      <p:sp>
        <p:nvSpPr>
          <p:cNvPr id="11" name="Shape 9"/>
          <p:cNvSpPr/>
          <p:nvPr/>
        </p:nvSpPr>
        <p:spPr>
          <a:xfrm>
            <a:off x="566928" y="4297680"/>
            <a:ext cx="548640" cy="548640"/>
          </a:xfrm>
          <a:prstGeom prst="ellipse">
            <a:avLst/>
          </a:prstGeom>
          <a:solidFill>
            <a:srgbClr val="0F766E"/>
          </a:solidFill>
          <a:ln w="12700">
            <a:solidFill>
              <a:srgbClr val="0F766E"/>
            </a:solidFill>
            <a:prstDash val="solid"/>
          </a:ln>
        </p:spPr>
        <p:txBody>
          <a:bodyPr/>
          <a:lstStyle/>
          <a:p>
            <a:endParaRPr lang="en-US"/>
          </a:p>
        </p:txBody>
      </p:sp>
      <p:sp>
        <p:nvSpPr>
          <p:cNvPr id="12" name="Text 10"/>
          <p:cNvSpPr/>
          <p:nvPr/>
        </p:nvSpPr>
        <p:spPr>
          <a:xfrm>
            <a:off x="566928" y="429768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03</a:t>
            </a:r>
            <a:endParaRPr lang="en-US" sz="1300" dirty="0"/>
          </a:p>
        </p:txBody>
      </p:sp>
      <p:sp>
        <p:nvSpPr>
          <p:cNvPr id="13" name="Text 11"/>
          <p:cNvSpPr/>
          <p:nvPr/>
        </p:nvSpPr>
        <p:spPr>
          <a:xfrm>
            <a:off x="1325880" y="4297680"/>
            <a:ext cx="4297680" cy="548640"/>
          </a:xfrm>
          <a:prstGeom prst="rect">
            <a:avLst/>
          </a:prstGeom>
          <a:noFill/>
          <a:ln/>
        </p:spPr>
        <p:txBody>
          <a:bodyPr wrap="square" lIns="0" tIns="0" rIns="0" bIns="0" rtlCol="0" anchor="ctr"/>
          <a:lstStyle/>
          <a:p>
            <a:pPr marL="0" indent="0">
              <a:buNone/>
            </a:pPr>
            <a:r>
              <a:rPr lang="en-US" sz="1700" b="1" dirty="0">
                <a:solidFill>
                  <a:srgbClr val="1D3557"/>
                </a:solidFill>
                <a:latin typeface="Segoe UI" pitchFamily="34" charset="0"/>
                <a:ea typeface="Segoe UI" pitchFamily="34" charset="-122"/>
                <a:cs typeface="Segoe UI" pitchFamily="34" charset="-120"/>
              </a:rPr>
              <a:t>Improve the customer records</a:t>
            </a:r>
            <a:endParaRPr lang="en-US" sz="1700" dirty="0"/>
          </a:p>
        </p:txBody>
      </p:sp>
      <p:sp>
        <p:nvSpPr>
          <p:cNvPr id="14" name="Text 12"/>
          <p:cNvSpPr/>
          <p:nvPr/>
        </p:nvSpPr>
        <p:spPr>
          <a:xfrm>
            <a:off x="566928" y="5440680"/>
            <a:ext cx="4754880" cy="320040"/>
          </a:xfrm>
          <a:prstGeom prst="rect">
            <a:avLst/>
          </a:prstGeom>
          <a:noFill/>
          <a:ln/>
        </p:spPr>
        <p:txBody>
          <a:bodyPr wrap="square" lIns="0" tIns="0" rIns="0" bIns="0" rtlCol="0" anchor="t"/>
          <a:lstStyle/>
          <a:p>
            <a:pPr marL="0" indent="0">
              <a:buNone/>
            </a:pPr>
            <a:r>
              <a:rPr lang="en-US" sz="1300" b="1" dirty="0">
                <a:solidFill>
                  <a:srgbClr val="A76117"/>
                </a:solidFill>
                <a:latin typeface="Segoe UI" pitchFamily="34" charset="0"/>
                <a:ea typeface="Segoe UI" pitchFamily="34" charset="-122"/>
                <a:cs typeface="Segoe UI" pitchFamily="34" charset="-120"/>
              </a:rPr>
              <a:t>Simple baselines, not trained ML models</a:t>
            </a:r>
            <a:endParaRPr lang="en-US" sz="1300" dirty="0"/>
          </a:p>
        </p:txBody>
      </p:sp>
      <p:sp>
        <p:nvSpPr>
          <p:cNvPr id="15" name="Text 13"/>
          <p:cNvSpPr/>
          <p:nvPr/>
        </p:nvSpPr>
        <p:spPr>
          <a:xfrm>
            <a:off x="5852160" y="1737360"/>
            <a:ext cx="5760720" cy="320040"/>
          </a:xfrm>
          <a:prstGeom prst="rect">
            <a:avLst/>
          </a:prstGeom>
          <a:noFill/>
          <a:ln/>
        </p:spPr>
        <p:txBody>
          <a:bodyPr wrap="square" lIns="0" tIns="0" rIns="0" bIns="0" rtlCol="0" anchor="t"/>
          <a:lstStyle/>
          <a:p>
            <a:pPr marL="0" indent="0">
              <a:buNone/>
            </a:pPr>
            <a:r>
              <a:rPr lang="en-US" sz="1300" b="1" dirty="0">
                <a:solidFill>
                  <a:srgbClr val="1D3557"/>
                </a:solidFill>
                <a:latin typeface="Segoe UI" pitchFamily="34" charset="0"/>
                <a:ea typeface="Segoe UI" pitchFamily="34" charset="-122"/>
                <a:cs typeface="Segoe UI" pitchFamily="34" charset="-120"/>
              </a:rPr>
              <a:t>Jan to Jun 2024 holdout: lower error is better</a:t>
            </a:r>
            <a:endParaRPr lang="en-US" sz="1300" dirty="0"/>
          </a:p>
        </p:txBody>
      </p:sp>
      <p:pic>
        <p:nvPicPr>
          <p:cNvPr id="16" name="Image 0" descr="C:\Users\ongoj\OneDrive\Documents\+MachineLearning\MFML\artifacts\finmark_visual_first_refinement\baseline\media\s8_Image_0.png"/>
          <p:cNvPicPr>
            <a:picLocks noChangeAspect="1"/>
          </p:cNvPicPr>
          <p:nvPr/>
        </p:nvPicPr>
        <p:blipFill>
          <a:blip r:embed="rId3"/>
          <a:stretch>
            <a:fillRect/>
          </a:stretch>
        </p:blipFill>
        <p:spPr>
          <a:xfrm>
            <a:off x="6035040" y="2057400"/>
            <a:ext cx="4846320" cy="4034962"/>
          </a:xfrm>
          <a:prstGeom prst="rect">
            <a:avLst/>
          </a:prstGeom>
        </p:spPr>
      </p:pic>
      <p:pic>
        <p:nvPicPr>
          <p:cNvPr id="22" name="Image 0" descr="C:\Users\ongoj\OneDrive\Documents\+MachineLearning\MFML\artifacts\finmark_visual_first_refinement\baseline\media\s8_Image_0.png"/>
          <p:cNvPicPr>
            <a:picLocks noChangeAspect="1"/>
          </p:cNvPicPr>
          <p:nvPr/>
        </p:nvPicPr>
        <p:blipFill>
          <a:blip r:embed="rId3"/>
          <a:stretch>
            <a:fillRect/>
          </a:stretch>
        </p:blipFill>
        <p:spPr>
          <a:xfrm>
            <a:off x="6035040" y="2057400"/>
            <a:ext cx="4846320" cy="4034962"/>
          </a:xfrm>
          <a:prstGeom prst="rect">
            <a:avLst/>
          </a:prstGeom>
        </p:spPr>
      </p:pic>
      <p:sp>
        <p:nvSpPr>
          <p:cNvPr id="17" name="Text 14"/>
          <p:cNvSpPr/>
          <p:nvPr/>
        </p:nvSpPr>
        <p:spPr>
          <a:xfrm>
            <a:off x="566928" y="5943600"/>
            <a:ext cx="11064240" cy="274320"/>
          </a:xfrm>
          <a:prstGeom prst="rect">
            <a:avLst/>
          </a:prstGeom>
          <a:noFill/>
          <a:ln/>
        </p:spPr>
        <p:txBody>
          <a:bodyPr wrap="square" lIns="0" tIns="0" rIns="0" bIns="0" rtlCol="0" anchor="t"/>
          <a:lstStyle/>
          <a:p>
            <a:pPr marL="0" indent="0">
              <a:buNone/>
            </a:pPr>
            <a:r>
              <a:rPr lang="en-US" sz="1100" dirty="0">
                <a:solidFill>
                  <a:srgbClr val="475569"/>
                </a:solidFill>
                <a:latin typeface="Segoe UI" pitchFamily="34" charset="0"/>
                <a:ea typeface="Segoe UI" pitchFamily="34" charset="-122"/>
                <a:cs typeface="Segoe UI" pitchFamily="34" charset="-120"/>
              </a:rPr>
              <a:t>MAE: average miss. RMSE: weights large misses more. Six monthly observations; not a production forecast.</a:t>
            </a:r>
            <a:endParaRPr lang="en-US" sz="1100" dirty="0"/>
          </a:p>
        </p:txBody>
      </p:sp>
      <p:sp>
        <p:nvSpPr>
          <p:cNvPr id="18" name="Shape 15"/>
          <p:cNvSpPr/>
          <p:nvPr/>
        </p:nvSpPr>
        <p:spPr>
          <a:xfrm>
            <a:off x="566928" y="6373368"/>
            <a:ext cx="11064240" cy="0"/>
          </a:xfrm>
          <a:prstGeom prst="line">
            <a:avLst/>
          </a:prstGeom>
          <a:noFill/>
          <a:ln w="12700">
            <a:solidFill>
              <a:srgbClr val="E2E8F0"/>
            </a:solidFill>
            <a:prstDash val="solid"/>
          </a:ln>
        </p:spPr>
        <p:txBody>
          <a:bodyPr/>
          <a:lstStyle/>
          <a:p>
            <a:endParaRPr lang="en-US"/>
          </a:p>
        </p:txBody>
      </p:sp>
      <p:sp>
        <p:nvSpPr>
          <p:cNvPr id="19" name="Text 16"/>
          <p:cNvSpPr/>
          <p:nvPr/>
        </p:nvSpPr>
        <p:spPr>
          <a:xfrm>
            <a:off x="566928" y="6446520"/>
            <a:ext cx="4114800" cy="22860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FINMARK  |  TEAM 3  |  MO-IT162</a:t>
            </a:r>
            <a:endParaRPr lang="en-US" sz="1000" dirty="0"/>
          </a:p>
        </p:txBody>
      </p:sp>
      <p:sp>
        <p:nvSpPr>
          <p:cNvPr id="20" name="Text 17"/>
          <p:cNvSpPr/>
          <p:nvPr/>
        </p:nvSpPr>
        <p:spPr>
          <a:xfrm>
            <a:off x="4206240" y="6446520"/>
            <a:ext cx="6583680"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Cleaned purchases | our additional estimate test</a:t>
            </a:r>
            <a:endParaRPr lang="en-US" sz="1000" dirty="0"/>
          </a:p>
        </p:txBody>
      </p:sp>
      <p:sp>
        <p:nvSpPr>
          <p:cNvPr id="21" name="Text 18"/>
          <p:cNvSpPr/>
          <p:nvPr/>
        </p:nvSpPr>
        <p:spPr>
          <a:xfrm>
            <a:off x="10881360" y="6446520"/>
            <a:ext cx="749808"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08 / 09</a:t>
            </a:r>
            <a:endParaRPr lang="en-US" sz="1000" dirty="0"/>
          </a:p>
        </p:txBody>
      </p:sp>
      <p:pic>
        <p:nvPicPr>
          <p:cNvPr id="27" name="Image 0" descr="C:\Users\ongoj\OneDrive\Documents\+MachineLearning\MFML\artifacts\finmark_visual_first_refinement\baseline\media\s1_Picture_25.png">
            <a:extLst>
              <a:ext uri="{FF2B5EF4-FFF2-40B4-BE49-F238E27FC236}">
                <a16:creationId xmlns:a16="http://schemas.microsoft.com/office/drawing/2014/main" id="{0F165A67-0269-DB4C-F87E-AF52909F042D}"/>
              </a:ext>
            </a:extLst>
          </p:cNvPr>
          <p:cNvPicPr>
            <a:picLocks noChangeAspect="1"/>
          </p:cNvPicPr>
          <p:nvPr/>
        </p:nvPicPr>
        <p:blipFill>
          <a:blip r:embed="rId4">
            <a:duotone>
              <a:prstClr val="black"/>
              <a:schemeClr val="accent1">
                <a:tint val="45000"/>
                <a:satMod val="400000"/>
              </a:schemeClr>
            </a:duotone>
            <a:alphaModFix amt="20000"/>
            <a:extLst>
              <a:ext uri="{BEBA8EAE-BF5A-486C-A8C5-ECC9F3942E4B}">
                <a14:imgProps xmlns:a14="http://schemas.microsoft.com/office/drawing/2010/main">
                  <a14:imgLayer r:embed="rId5">
                    <a14:imgEffect>
                      <a14:artisticCement/>
                    </a14:imgEffect>
                  </a14:imgLayer>
                </a14:imgProps>
              </a:ext>
            </a:extLst>
          </a:blip>
          <a:stretch>
            <a:fillRect/>
          </a:stretch>
        </p:blipFill>
        <p:spPr>
          <a:xfrm>
            <a:off x="2779778" y="310898"/>
            <a:ext cx="6291070" cy="6291070"/>
          </a:xfrm>
          <a:prstGeom prst="rect">
            <a:avLst/>
          </a:prstGeom>
          <a:scene3d>
            <a:camera prst="perspectiveContrastingLeftFacing"/>
            <a:lightRig rig="threePt" dir="t"/>
          </a:scene3d>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9144000" cy="274320"/>
          </a:xfrm>
          <a:prstGeom prst="rect">
            <a:avLst/>
          </a:prstGeom>
          <a:noFill/>
          <a:ln/>
        </p:spPr>
        <p:txBody>
          <a:bodyPr wrap="square" lIns="0" tIns="0" rIns="0" bIns="0" rtlCol="0" anchor="t"/>
          <a:lstStyle/>
          <a:p>
            <a:pPr marL="0" indent="0">
              <a:buNone/>
            </a:pPr>
            <a:r>
              <a:rPr lang="en-US" sz="1200" b="1" kern="0" spc="100" dirty="0">
                <a:solidFill>
                  <a:srgbClr val="0F766E"/>
                </a:solidFill>
                <a:latin typeface="Segoe UI" pitchFamily="34" charset="0"/>
                <a:ea typeface="Segoe UI" pitchFamily="34" charset="-122"/>
                <a:cs typeface="Segoe UI" pitchFamily="34" charset="-120"/>
              </a:rPr>
              <a:t>08  WHAT COMES NEXT</a:t>
            </a:r>
            <a:endParaRPr lang="en-US" sz="1200" dirty="0"/>
          </a:p>
        </p:txBody>
      </p:sp>
      <p:sp>
        <p:nvSpPr>
          <p:cNvPr id="3" name="Text 1"/>
          <p:cNvSpPr/>
          <p:nvPr/>
        </p:nvSpPr>
        <p:spPr>
          <a:xfrm>
            <a:off x="566928" y="713232"/>
            <a:ext cx="11064240" cy="640080"/>
          </a:xfrm>
          <a:prstGeom prst="rect">
            <a:avLst/>
          </a:prstGeom>
          <a:noFill/>
          <a:ln/>
        </p:spPr>
        <p:txBody>
          <a:bodyPr wrap="square" lIns="0" tIns="0" rIns="0" bIns="0" rtlCol="0" anchor="t"/>
          <a:lstStyle/>
          <a:p>
            <a:pPr marL="0" indent="0">
              <a:buNone/>
            </a:pPr>
            <a:r>
              <a:rPr lang="en-US" sz="2800" b="1" dirty="0">
                <a:solidFill>
                  <a:srgbClr val="1D3557"/>
                </a:solidFill>
                <a:latin typeface="Segoe UI" pitchFamily="34" charset="0"/>
                <a:ea typeface="Segoe UI" pitchFamily="34" charset="-122"/>
                <a:cs typeface="Segoe UI" pitchFamily="34" charset="-120"/>
              </a:rPr>
              <a:t>Two conditional next steps; neither is validated yet</a:t>
            </a:r>
            <a:endParaRPr lang="en-US" sz="2800" dirty="0"/>
          </a:p>
        </p:txBody>
      </p:sp>
      <p:sp>
        <p:nvSpPr>
          <p:cNvPr id="4" name="Shape 2"/>
          <p:cNvSpPr/>
          <p:nvPr/>
        </p:nvSpPr>
        <p:spPr>
          <a:xfrm>
            <a:off x="566928" y="1554480"/>
            <a:ext cx="5394960" cy="3886200"/>
          </a:xfrm>
          <a:prstGeom prst="rect">
            <a:avLst/>
          </a:prstGeom>
          <a:solidFill>
            <a:srgbClr val="FFFFFF"/>
          </a:solidFill>
          <a:ln w="12700">
            <a:solidFill>
              <a:srgbClr val="E2E8F0"/>
            </a:solidFill>
            <a:prstDash val="solid"/>
          </a:ln>
        </p:spPr>
        <p:txBody>
          <a:bodyPr/>
          <a:lstStyle/>
          <a:p>
            <a:endParaRPr lang="en-US"/>
          </a:p>
        </p:txBody>
      </p:sp>
      <p:sp>
        <p:nvSpPr>
          <p:cNvPr id="5" name="Shape 3"/>
          <p:cNvSpPr/>
          <p:nvPr/>
        </p:nvSpPr>
        <p:spPr>
          <a:xfrm>
            <a:off x="566928" y="1554480"/>
            <a:ext cx="5394960" cy="54864"/>
          </a:xfrm>
          <a:prstGeom prst="rect">
            <a:avLst/>
          </a:prstGeom>
          <a:solidFill>
            <a:srgbClr val="0F766E"/>
          </a:solidFill>
          <a:ln w="12700">
            <a:solidFill>
              <a:srgbClr val="0F766E"/>
            </a:solidFill>
            <a:prstDash val="solid"/>
          </a:ln>
        </p:spPr>
        <p:txBody>
          <a:bodyPr/>
          <a:lstStyle/>
          <a:p>
            <a:endParaRPr lang="en-US"/>
          </a:p>
        </p:txBody>
      </p:sp>
      <p:sp>
        <p:nvSpPr>
          <p:cNvPr id="6" name="Text 4"/>
          <p:cNvSpPr/>
          <p:nvPr/>
        </p:nvSpPr>
        <p:spPr>
          <a:xfrm>
            <a:off x="841248" y="1755648"/>
            <a:ext cx="4846320" cy="274320"/>
          </a:xfrm>
          <a:prstGeom prst="rect">
            <a:avLst/>
          </a:prstGeom>
          <a:noFill/>
          <a:ln/>
        </p:spPr>
        <p:txBody>
          <a:bodyPr wrap="square" lIns="0" tIns="0" rIns="0" bIns="0" rtlCol="0" anchor="t"/>
          <a:lstStyle/>
          <a:p>
            <a:pPr marL="0" indent="0">
              <a:buNone/>
            </a:pPr>
            <a:r>
              <a:rPr lang="en-US" sz="1100" b="1" kern="0" spc="100" dirty="0">
                <a:solidFill>
                  <a:srgbClr val="0F766E"/>
                </a:solidFill>
                <a:latin typeface="Segoe UI" pitchFamily="34" charset="0"/>
                <a:ea typeface="Segoe UI" pitchFamily="34" charset="-122"/>
                <a:cs typeface="Segoe UI" pitchFamily="34" charset="-120"/>
              </a:rPr>
              <a:t>MARKET TRENDS</a:t>
            </a:r>
            <a:endParaRPr lang="en-US" sz="1100" dirty="0"/>
          </a:p>
        </p:txBody>
      </p:sp>
      <p:sp>
        <p:nvSpPr>
          <p:cNvPr id="7" name="Text 5"/>
          <p:cNvSpPr/>
          <p:nvPr/>
        </p:nvSpPr>
        <p:spPr>
          <a:xfrm>
            <a:off x="841248" y="2029968"/>
            <a:ext cx="4846320" cy="411480"/>
          </a:xfrm>
          <a:prstGeom prst="rect">
            <a:avLst/>
          </a:prstGeom>
          <a:noFill/>
          <a:ln/>
        </p:spPr>
        <p:txBody>
          <a:bodyPr wrap="square" lIns="0" tIns="0" rIns="0" bIns="0" rtlCol="0" anchor="t"/>
          <a:lstStyle/>
          <a:p>
            <a:pPr marL="0" indent="0">
              <a:buNone/>
            </a:pPr>
            <a:r>
              <a:rPr lang="en-US" sz="1900" b="1" dirty="0">
                <a:solidFill>
                  <a:srgbClr val="1D3557"/>
                </a:solidFill>
                <a:latin typeface="Segoe UI" pitchFamily="34" charset="0"/>
                <a:ea typeface="Segoe UI" pitchFamily="34" charset="-122"/>
                <a:cs typeface="Segoe UI" pitchFamily="34" charset="-120"/>
              </a:rPr>
              <a:t>Time-Series Forecasting</a:t>
            </a:r>
            <a:endParaRPr lang="en-US" sz="1900" dirty="0"/>
          </a:p>
        </p:txBody>
      </p:sp>
      <p:sp>
        <p:nvSpPr>
          <p:cNvPr id="8" name="Text 6"/>
          <p:cNvSpPr/>
          <p:nvPr/>
        </p:nvSpPr>
        <p:spPr>
          <a:xfrm>
            <a:off x="841248" y="2788920"/>
            <a:ext cx="1280160" cy="274320"/>
          </a:xfrm>
          <a:prstGeom prst="rect">
            <a:avLst/>
          </a:prstGeom>
          <a:noFill/>
          <a:ln/>
        </p:spPr>
        <p:txBody>
          <a:bodyPr wrap="square" lIns="0" tIns="0" rIns="0" bIns="0" rtlCol="0" anchor="t"/>
          <a:lstStyle/>
          <a:p>
            <a:pPr marL="0" indent="0">
              <a:buNone/>
            </a:pPr>
            <a:r>
              <a:rPr lang="en-US" sz="1000" b="1" kern="0" spc="100" dirty="0">
                <a:solidFill>
                  <a:srgbClr val="475569"/>
                </a:solidFill>
                <a:latin typeface="Segoe UI" pitchFamily="34" charset="0"/>
                <a:ea typeface="Segoe UI" pitchFamily="34" charset="-122"/>
                <a:cs typeface="Segoe UI" pitchFamily="34" charset="-120"/>
              </a:rPr>
              <a:t>WHY</a:t>
            </a:r>
            <a:endParaRPr lang="en-US" sz="1000" dirty="0"/>
          </a:p>
        </p:txBody>
      </p:sp>
      <p:sp>
        <p:nvSpPr>
          <p:cNvPr id="9" name="Text 7"/>
          <p:cNvSpPr/>
          <p:nvPr/>
        </p:nvSpPr>
        <p:spPr>
          <a:xfrm>
            <a:off x="841248" y="3026664"/>
            <a:ext cx="4846320" cy="365760"/>
          </a:xfrm>
          <a:prstGeom prst="rect">
            <a:avLst/>
          </a:prstGeom>
          <a:noFill/>
          <a:ln/>
        </p:spPr>
        <p:txBody>
          <a:bodyPr wrap="square" lIns="0" tIns="0" rIns="0" bIns="0" rtlCol="0" anchor="t"/>
          <a:lstStyle/>
          <a:p>
            <a:pPr marL="0" indent="0">
              <a:buNone/>
            </a:pPr>
            <a:r>
              <a:rPr lang="en-US" sz="1300" dirty="0">
                <a:solidFill>
                  <a:srgbClr val="1D3557"/>
                </a:solidFill>
                <a:latin typeface="Segoe UI" pitchFamily="34" charset="0"/>
                <a:ea typeface="Segoe UI" pitchFamily="34" charset="-122"/>
                <a:cs typeface="Segoe UI" pitchFamily="34" charset="-120"/>
              </a:rPr>
              <a:t>Monthly counts ranged 82 to 121; the 3-month average missed by 12.06 (MAE).</a:t>
            </a:r>
            <a:endParaRPr lang="en-US" sz="1300" dirty="0"/>
          </a:p>
        </p:txBody>
      </p:sp>
      <p:sp>
        <p:nvSpPr>
          <p:cNvPr id="10" name="Text 8"/>
          <p:cNvSpPr/>
          <p:nvPr/>
        </p:nvSpPr>
        <p:spPr>
          <a:xfrm>
            <a:off x="841248" y="3429000"/>
            <a:ext cx="1280160" cy="274320"/>
          </a:xfrm>
          <a:prstGeom prst="rect">
            <a:avLst/>
          </a:prstGeom>
          <a:noFill/>
          <a:ln/>
        </p:spPr>
        <p:txBody>
          <a:bodyPr wrap="square" lIns="0" tIns="0" rIns="0" bIns="0" rtlCol="0" anchor="t"/>
          <a:lstStyle/>
          <a:p>
            <a:pPr marL="0" indent="0">
              <a:buNone/>
            </a:pPr>
            <a:r>
              <a:rPr lang="en-US" sz="1000" b="1" kern="0" spc="100" dirty="0">
                <a:solidFill>
                  <a:srgbClr val="475569"/>
                </a:solidFill>
                <a:latin typeface="Segoe UI" pitchFamily="34" charset="0"/>
                <a:ea typeface="Segoe UI" pitchFamily="34" charset="-122"/>
                <a:cs typeface="Segoe UI" pitchFamily="34" charset="-120"/>
              </a:rPr>
              <a:t>ADVANTAGE</a:t>
            </a:r>
            <a:endParaRPr lang="en-US" sz="1000" dirty="0"/>
          </a:p>
        </p:txBody>
      </p:sp>
      <p:sp>
        <p:nvSpPr>
          <p:cNvPr id="11" name="Text 9"/>
          <p:cNvSpPr/>
          <p:nvPr/>
        </p:nvSpPr>
        <p:spPr>
          <a:xfrm>
            <a:off x="841248" y="3666744"/>
            <a:ext cx="4846320" cy="365760"/>
          </a:xfrm>
          <a:prstGeom prst="rect">
            <a:avLst/>
          </a:prstGeom>
          <a:noFill/>
          <a:ln/>
        </p:spPr>
        <p:txBody>
          <a:bodyPr wrap="square" lIns="0" tIns="0" rIns="0" bIns="0" rtlCol="0" anchor="t"/>
          <a:lstStyle/>
          <a:p>
            <a:pPr marL="0" indent="0">
              <a:buNone/>
            </a:pPr>
            <a:r>
              <a:rPr lang="en-US" sz="1300" dirty="0">
                <a:solidFill>
                  <a:srgbClr val="1D3557"/>
                </a:solidFill>
                <a:latin typeface="Segoe UI" pitchFamily="34" charset="0"/>
                <a:ea typeface="Segoe UI" pitchFamily="34" charset="-122"/>
                <a:cs typeface="Segoe UI" pitchFamily="34" charset="-120"/>
              </a:rPr>
              <a:t>Uses all 2,420 purchase rows, with no joins.</a:t>
            </a:r>
            <a:endParaRPr lang="en-US" sz="1300" dirty="0"/>
          </a:p>
        </p:txBody>
      </p:sp>
      <p:sp>
        <p:nvSpPr>
          <p:cNvPr id="12" name="Text 10"/>
          <p:cNvSpPr/>
          <p:nvPr/>
        </p:nvSpPr>
        <p:spPr>
          <a:xfrm>
            <a:off x="841248" y="4069080"/>
            <a:ext cx="1280160" cy="274320"/>
          </a:xfrm>
          <a:prstGeom prst="rect">
            <a:avLst/>
          </a:prstGeom>
          <a:noFill/>
          <a:ln/>
        </p:spPr>
        <p:txBody>
          <a:bodyPr wrap="square" lIns="0" tIns="0" rIns="0" bIns="0" rtlCol="0" anchor="t"/>
          <a:lstStyle/>
          <a:p>
            <a:pPr marL="0" indent="0">
              <a:buNone/>
            </a:pPr>
            <a:r>
              <a:rPr lang="en-US" sz="1000" b="1" kern="0" spc="100" dirty="0">
                <a:solidFill>
                  <a:srgbClr val="475569"/>
                </a:solidFill>
                <a:latin typeface="Segoe UI" pitchFamily="34" charset="0"/>
                <a:ea typeface="Segoe UI" pitchFamily="34" charset="-122"/>
                <a:cs typeface="Segoe UI" pitchFamily="34" charset="-120"/>
              </a:rPr>
              <a:t>LIMIT</a:t>
            </a:r>
            <a:endParaRPr lang="en-US" sz="1000" dirty="0"/>
          </a:p>
        </p:txBody>
      </p:sp>
      <p:sp>
        <p:nvSpPr>
          <p:cNvPr id="13" name="Text 11"/>
          <p:cNvSpPr/>
          <p:nvPr/>
        </p:nvSpPr>
        <p:spPr>
          <a:xfrm>
            <a:off x="841248" y="4306824"/>
            <a:ext cx="4846320" cy="365760"/>
          </a:xfrm>
          <a:prstGeom prst="rect">
            <a:avLst/>
          </a:prstGeom>
          <a:noFill/>
          <a:ln/>
        </p:spPr>
        <p:txBody>
          <a:bodyPr wrap="square" lIns="0" tIns="0" rIns="0" bIns="0" rtlCol="0" anchor="t"/>
          <a:lstStyle/>
          <a:p>
            <a:pPr marL="0" indent="0">
              <a:buNone/>
            </a:pPr>
            <a:r>
              <a:rPr lang="en-US" sz="1300" dirty="0">
                <a:solidFill>
                  <a:srgbClr val="1D3557"/>
                </a:solidFill>
                <a:latin typeface="Segoe UI" pitchFamily="34" charset="0"/>
                <a:ea typeface="Segoe UI" pitchFamily="34" charset="-122"/>
                <a:cs typeface="Segoe UI" pitchFamily="34" charset="-120"/>
              </a:rPr>
              <a:t>24 months is too short to prove multi-year seasonality.</a:t>
            </a:r>
            <a:endParaRPr lang="en-US" sz="1300" dirty="0"/>
          </a:p>
        </p:txBody>
      </p:sp>
      <p:sp>
        <p:nvSpPr>
          <p:cNvPr id="14" name="Text 12"/>
          <p:cNvSpPr/>
          <p:nvPr/>
        </p:nvSpPr>
        <p:spPr>
          <a:xfrm>
            <a:off x="841248" y="4709160"/>
            <a:ext cx="1280160" cy="274320"/>
          </a:xfrm>
          <a:prstGeom prst="rect">
            <a:avLst/>
          </a:prstGeom>
          <a:noFill/>
          <a:ln/>
        </p:spPr>
        <p:txBody>
          <a:bodyPr wrap="square" lIns="0" tIns="0" rIns="0" bIns="0" rtlCol="0" anchor="t"/>
          <a:lstStyle/>
          <a:p>
            <a:pPr marL="0" indent="0">
              <a:buNone/>
            </a:pPr>
            <a:r>
              <a:rPr lang="en-US" sz="1000" b="1" kern="0" spc="100" dirty="0">
                <a:solidFill>
                  <a:srgbClr val="475569"/>
                </a:solidFill>
                <a:latin typeface="Segoe UI" pitchFamily="34" charset="0"/>
                <a:ea typeface="Segoe UI" pitchFamily="34" charset="-122"/>
                <a:cs typeface="Segoe UI" pitchFamily="34" charset="-120"/>
              </a:rPr>
              <a:t>FIRST STEP</a:t>
            </a:r>
            <a:endParaRPr lang="en-US" sz="1000" dirty="0"/>
          </a:p>
        </p:txBody>
      </p:sp>
      <p:sp>
        <p:nvSpPr>
          <p:cNvPr id="15" name="Text 13"/>
          <p:cNvSpPr/>
          <p:nvPr/>
        </p:nvSpPr>
        <p:spPr>
          <a:xfrm>
            <a:off x="841248" y="4946904"/>
            <a:ext cx="4846320" cy="365760"/>
          </a:xfrm>
          <a:prstGeom prst="rect">
            <a:avLst/>
          </a:prstGeom>
          <a:noFill/>
          <a:ln/>
        </p:spPr>
        <p:txBody>
          <a:bodyPr wrap="square" lIns="0" tIns="0" rIns="0" bIns="0" rtlCol="0" anchor="t"/>
          <a:lstStyle/>
          <a:p>
            <a:pPr marL="0" indent="0">
              <a:buNone/>
            </a:pPr>
            <a:r>
              <a:rPr lang="en-US" sz="1300" dirty="0">
                <a:solidFill>
                  <a:srgbClr val="1D3557"/>
                </a:solidFill>
                <a:latin typeface="Segoe UI" pitchFamily="34" charset="0"/>
                <a:ea typeface="Segoe UI" pitchFamily="34" charset="-122"/>
                <a:cs typeface="Segoe UI" pitchFamily="34" charset="-120"/>
              </a:rPr>
              <a:t>Collect newer monthly records; test against the 12.06 MAE baseline.</a:t>
            </a:r>
            <a:endParaRPr lang="en-US" sz="1300" dirty="0"/>
          </a:p>
        </p:txBody>
      </p:sp>
      <p:sp>
        <p:nvSpPr>
          <p:cNvPr id="16" name="Shape 14"/>
          <p:cNvSpPr/>
          <p:nvPr/>
        </p:nvSpPr>
        <p:spPr>
          <a:xfrm>
            <a:off x="6236208" y="1554480"/>
            <a:ext cx="5394960" cy="3886200"/>
          </a:xfrm>
          <a:prstGeom prst="rect">
            <a:avLst/>
          </a:prstGeom>
          <a:solidFill>
            <a:srgbClr val="FFFFFF"/>
          </a:solidFill>
          <a:ln w="12700">
            <a:solidFill>
              <a:srgbClr val="E2E8F0"/>
            </a:solidFill>
            <a:prstDash val="solid"/>
          </a:ln>
        </p:spPr>
        <p:txBody>
          <a:bodyPr/>
          <a:lstStyle/>
          <a:p>
            <a:endParaRPr lang="en-US"/>
          </a:p>
        </p:txBody>
      </p:sp>
      <p:sp>
        <p:nvSpPr>
          <p:cNvPr id="17" name="Shape 15"/>
          <p:cNvSpPr/>
          <p:nvPr/>
        </p:nvSpPr>
        <p:spPr>
          <a:xfrm>
            <a:off x="6236208" y="1554480"/>
            <a:ext cx="5394960" cy="54864"/>
          </a:xfrm>
          <a:prstGeom prst="rect">
            <a:avLst/>
          </a:prstGeom>
          <a:solidFill>
            <a:srgbClr val="A76117"/>
          </a:solidFill>
          <a:ln w="12700">
            <a:solidFill>
              <a:srgbClr val="A76117"/>
            </a:solidFill>
            <a:prstDash val="solid"/>
          </a:ln>
        </p:spPr>
        <p:txBody>
          <a:bodyPr/>
          <a:lstStyle/>
          <a:p>
            <a:endParaRPr lang="en-US"/>
          </a:p>
        </p:txBody>
      </p:sp>
      <p:sp>
        <p:nvSpPr>
          <p:cNvPr id="18" name="Text 16"/>
          <p:cNvSpPr/>
          <p:nvPr/>
        </p:nvSpPr>
        <p:spPr>
          <a:xfrm>
            <a:off x="6510528" y="1755648"/>
            <a:ext cx="4846320" cy="274320"/>
          </a:xfrm>
          <a:prstGeom prst="rect">
            <a:avLst/>
          </a:prstGeom>
          <a:noFill/>
          <a:ln/>
        </p:spPr>
        <p:txBody>
          <a:bodyPr wrap="square" lIns="0" tIns="0" rIns="0" bIns="0" rtlCol="0" anchor="t"/>
          <a:lstStyle/>
          <a:p>
            <a:pPr marL="0" indent="0">
              <a:buNone/>
            </a:pPr>
            <a:r>
              <a:rPr lang="en-US" sz="1100" b="1" kern="0" spc="100" dirty="0">
                <a:solidFill>
                  <a:srgbClr val="A76117"/>
                </a:solidFill>
                <a:latin typeface="Segoe UI" pitchFamily="34" charset="0"/>
                <a:ea typeface="Segoe UI" pitchFamily="34" charset="-122"/>
                <a:cs typeface="Segoe UI" pitchFamily="34" charset="-120"/>
              </a:rPr>
              <a:t>CUSTOMER BEHAVIOR</a:t>
            </a:r>
            <a:endParaRPr lang="en-US" sz="1100" dirty="0"/>
          </a:p>
        </p:txBody>
      </p:sp>
      <p:sp>
        <p:nvSpPr>
          <p:cNvPr id="19" name="Text 17"/>
          <p:cNvSpPr/>
          <p:nvPr/>
        </p:nvSpPr>
        <p:spPr>
          <a:xfrm>
            <a:off x="6510528" y="2029968"/>
            <a:ext cx="4846320" cy="411480"/>
          </a:xfrm>
          <a:prstGeom prst="rect">
            <a:avLst/>
          </a:prstGeom>
          <a:noFill/>
          <a:ln/>
        </p:spPr>
        <p:txBody>
          <a:bodyPr wrap="square" lIns="0" tIns="0" rIns="0" bIns="0" rtlCol="0" anchor="t"/>
          <a:lstStyle/>
          <a:p>
            <a:pPr marL="0" indent="0">
              <a:buNone/>
            </a:pPr>
            <a:r>
              <a:rPr lang="en-US" sz="1900" b="1" dirty="0">
                <a:solidFill>
                  <a:srgbClr val="1D3557"/>
                </a:solidFill>
                <a:latin typeface="Segoe UI" pitchFamily="34" charset="0"/>
                <a:ea typeface="Segoe UI" pitchFamily="34" charset="-122"/>
                <a:cs typeface="Segoe UI" pitchFamily="34" charset="-120"/>
              </a:rPr>
              <a:t>K-Means Customer Clustering</a:t>
            </a:r>
            <a:endParaRPr lang="en-US" sz="1900" dirty="0"/>
          </a:p>
        </p:txBody>
      </p:sp>
      <p:sp>
        <p:nvSpPr>
          <p:cNvPr id="20" name="Text 18"/>
          <p:cNvSpPr/>
          <p:nvPr/>
        </p:nvSpPr>
        <p:spPr>
          <a:xfrm>
            <a:off x="6510528" y="2395728"/>
            <a:ext cx="4846320" cy="274320"/>
          </a:xfrm>
          <a:prstGeom prst="rect">
            <a:avLst/>
          </a:prstGeom>
          <a:noFill/>
          <a:ln/>
        </p:spPr>
        <p:txBody>
          <a:bodyPr wrap="square" lIns="0" tIns="0" rIns="0" bIns="0" rtlCol="0" anchor="t"/>
          <a:lstStyle/>
          <a:p>
            <a:pPr marL="0" indent="0">
              <a:buNone/>
            </a:pPr>
            <a:r>
              <a:rPr lang="en-US" sz="1100" dirty="0">
                <a:solidFill>
                  <a:srgbClr val="475569"/>
                </a:solidFill>
                <a:latin typeface="Segoe UI" pitchFamily="34" charset="0"/>
                <a:ea typeface="Segoe UI" pitchFamily="34" charset="-122"/>
                <a:cs typeface="Segoe UI" pitchFamily="34" charset="-120"/>
              </a:rPr>
              <a:t>Comparison option: Agglomerative clustering</a:t>
            </a:r>
            <a:endParaRPr lang="en-US" sz="1100" dirty="0"/>
          </a:p>
        </p:txBody>
      </p:sp>
      <p:sp>
        <p:nvSpPr>
          <p:cNvPr id="21" name="Text 19"/>
          <p:cNvSpPr/>
          <p:nvPr/>
        </p:nvSpPr>
        <p:spPr>
          <a:xfrm>
            <a:off x="6510528" y="2788920"/>
            <a:ext cx="1280160" cy="274320"/>
          </a:xfrm>
          <a:prstGeom prst="rect">
            <a:avLst/>
          </a:prstGeom>
          <a:noFill/>
          <a:ln/>
        </p:spPr>
        <p:txBody>
          <a:bodyPr wrap="square" lIns="0" tIns="0" rIns="0" bIns="0" rtlCol="0" anchor="t"/>
          <a:lstStyle/>
          <a:p>
            <a:pPr marL="0" indent="0">
              <a:buNone/>
            </a:pPr>
            <a:r>
              <a:rPr lang="en-US" sz="1000" b="1" kern="0" spc="100" dirty="0">
                <a:solidFill>
                  <a:srgbClr val="475569"/>
                </a:solidFill>
                <a:latin typeface="Segoe UI" pitchFamily="34" charset="0"/>
                <a:ea typeface="Segoe UI" pitchFamily="34" charset="-122"/>
                <a:cs typeface="Segoe UI" pitchFamily="34" charset="-120"/>
              </a:rPr>
              <a:t>WHY</a:t>
            </a:r>
            <a:endParaRPr lang="en-US" sz="1000" dirty="0"/>
          </a:p>
        </p:txBody>
      </p:sp>
      <p:sp>
        <p:nvSpPr>
          <p:cNvPr id="22" name="Text 20"/>
          <p:cNvSpPr/>
          <p:nvPr/>
        </p:nvSpPr>
        <p:spPr>
          <a:xfrm>
            <a:off x="6510528" y="3026664"/>
            <a:ext cx="4846320" cy="365760"/>
          </a:xfrm>
          <a:prstGeom prst="rect">
            <a:avLst/>
          </a:prstGeom>
          <a:noFill/>
          <a:ln/>
        </p:spPr>
        <p:txBody>
          <a:bodyPr wrap="square" lIns="0" tIns="0" rIns="0" bIns="0" rtlCol="0" anchor="t"/>
          <a:lstStyle/>
          <a:p>
            <a:pPr marL="0" indent="0">
              <a:buNone/>
            </a:pPr>
            <a:r>
              <a:rPr lang="en-US" sz="1300" dirty="0">
                <a:solidFill>
                  <a:srgbClr val="1D3557"/>
                </a:solidFill>
                <a:latin typeface="Segoe UI" pitchFamily="34" charset="0"/>
                <a:ea typeface="Segoe UI" pitchFamily="34" charset="-122"/>
                <a:cs typeface="Segoe UI" pitchFamily="34" charset="-120"/>
              </a:rPr>
              <a:t>Age and social posts show no strong link to spend; 64.6% bought once.</a:t>
            </a:r>
            <a:endParaRPr lang="en-US" sz="1300" dirty="0"/>
          </a:p>
        </p:txBody>
      </p:sp>
      <p:sp>
        <p:nvSpPr>
          <p:cNvPr id="23" name="Text 21"/>
          <p:cNvSpPr/>
          <p:nvPr/>
        </p:nvSpPr>
        <p:spPr>
          <a:xfrm>
            <a:off x="6510528" y="3429000"/>
            <a:ext cx="1280160" cy="274320"/>
          </a:xfrm>
          <a:prstGeom prst="rect">
            <a:avLst/>
          </a:prstGeom>
          <a:noFill/>
          <a:ln/>
        </p:spPr>
        <p:txBody>
          <a:bodyPr wrap="square" lIns="0" tIns="0" rIns="0" bIns="0" rtlCol="0" anchor="t"/>
          <a:lstStyle/>
          <a:p>
            <a:pPr marL="0" indent="0">
              <a:buNone/>
            </a:pPr>
            <a:r>
              <a:rPr lang="en-US" sz="1000" b="1" kern="0" spc="100" dirty="0">
                <a:solidFill>
                  <a:srgbClr val="475569"/>
                </a:solidFill>
                <a:latin typeface="Segoe UI" pitchFamily="34" charset="0"/>
                <a:ea typeface="Segoe UI" pitchFamily="34" charset="-122"/>
                <a:cs typeface="Segoe UI" pitchFamily="34" charset="-120"/>
              </a:rPr>
              <a:t>ADVANTAGE</a:t>
            </a:r>
            <a:endParaRPr lang="en-US" sz="1000" dirty="0"/>
          </a:p>
        </p:txBody>
      </p:sp>
      <p:sp>
        <p:nvSpPr>
          <p:cNvPr id="24" name="Text 22"/>
          <p:cNvSpPr/>
          <p:nvPr/>
        </p:nvSpPr>
        <p:spPr>
          <a:xfrm>
            <a:off x="6510528" y="3666744"/>
            <a:ext cx="4846320" cy="365760"/>
          </a:xfrm>
          <a:prstGeom prst="rect">
            <a:avLst/>
          </a:prstGeom>
          <a:noFill/>
          <a:ln/>
        </p:spPr>
        <p:txBody>
          <a:bodyPr wrap="square" lIns="0" tIns="0" rIns="0" bIns="0" rtlCol="0" anchor="t"/>
          <a:lstStyle/>
          <a:p>
            <a:pPr marL="0" indent="0">
              <a:buNone/>
            </a:pPr>
            <a:r>
              <a:rPr lang="en-US" sz="1300" dirty="0">
                <a:solidFill>
                  <a:srgbClr val="1D3557"/>
                </a:solidFill>
                <a:latin typeface="Segoe UI" pitchFamily="34" charset="0"/>
                <a:ea typeface="Segoe UI" pitchFamily="34" charset="-122"/>
                <a:cs typeface="Segoe UI" pitchFamily="34" charset="-120"/>
              </a:rPr>
              <a:t>No predefined target; groups customers on purchase patterns.</a:t>
            </a:r>
            <a:endParaRPr lang="en-US" sz="1300" dirty="0"/>
          </a:p>
        </p:txBody>
      </p:sp>
      <p:sp>
        <p:nvSpPr>
          <p:cNvPr id="25" name="Text 23"/>
          <p:cNvSpPr/>
          <p:nvPr/>
        </p:nvSpPr>
        <p:spPr>
          <a:xfrm>
            <a:off x="6510528" y="4069080"/>
            <a:ext cx="1280160" cy="274320"/>
          </a:xfrm>
          <a:prstGeom prst="rect">
            <a:avLst/>
          </a:prstGeom>
          <a:noFill/>
          <a:ln/>
        </p:spPr>
        <p:txBody>
          <a:bodyPr wrap="square" lIns="0" tIns="0" rIns="0" bIns="0" rtlCol="0" anchor="t"/>
          <a:lstStyle/>
          <a:p>
            <a:pPr marL="0" indent="0">
              <a:buNone/>
            </a:pPr>
            <a:r>
              <a:rPr lang="en-US" sz="1000" b="1" kern="0" spc="100" dirty="0">
                <a:solidFill>
                  <a:srgbClr val="475569"/>
                </a:solidFill>
                <a:latin typeface="Segoe UI" pitchFamily="34" charset="0"/>
                <a:ea typeface="Segoe UI" pitchFamily="34" charset="-122"/>
                <a:cs typeface="Segoe UI" pitchFamily="34" charset="-120"/>
              </a:rPr>
              <a:t>LIMIT</a:t>
            </a:r>
            <a:endParaRPr lang="en-US" sz="1000" dirty="0"/>
          </a:p>
        </p:txBody>
      </p:sp>
      <p:sp>
        <p:nvSpPr>
          <p:cNvPr id="26" name="Text 24"/>
          <p:cNvSpPr/>
          <p:nvPr/>
        </p:nvSpPr>
        <p:spPr>
          <a:xfrm>
            <a:off x="6510528" y="4306824"/>
            <a:ext cx="4846320" cy="365760"/>
          </a:xfrm>
          <a:prstGeom prst="rect">
            <a:avLst/>
          </a:prstGeom>
          <a:noFill/>
          <a:ln/>
        </p:spPr>
        <p:txBody>
          <a:bodyPr wrap="square" lIns="0" tIns="0" rIns="0" bIns="0" rtlCol="0" anchor="t"/>
          <a:lstStyle/>
          <a:p>
            <a:pPr marL="0" indent="0">
              <a:buNone/>
            </a:pPr>
            <a:r>
              <a:rPr lang="en-US" sz="1300" dirty="0">
                <a:solidFill>
                  <a:srgbClr val="1D3557"/>
                </a:solidFill>
                <a:latin typeface="Segoe UI" pitchFamily="34" charset="0"/>
                <a:ea typeface="Segoe UI" pitchFamily="34" charset="-122"/>
                <a:cs typeface="Segoe UI" pitchFamily="34" charset="-120"/>
              </a:rPr>
              <a:t>Short histories; matched customers only (1,306 or 457).</a:t>
            </a:r>
            <a:endParaRPr lang="en-US" sz="1300" dirty="0"/>
          </a:p>
        </p:txBody>
      </p:sp>
      <p:sp>
        <p:nvSpPr>
          <p:cNvPr id="27" name="Text 25"/>
          <p:cNvSpPr/>
          <p:nvPr/>
        </p:nvSpPr>
        <p:spPr>
          <a:xfrm>
            <a:off x="6510528" y="4709160"/>
            <a:ext cx="1280160" cy="274320"/>
          </a:xfrm>
          <a:prstGeom prst="rect">
            <a:avLst/>
          </a:prstGeom>
          <a:noFill/>
          <a:ln/>
        </p:spPr>
        <p:txBody>
          <a:bodyPr wrap="square" lIns="0" tIns="0" rIns="0" bIns="0" rtlCol="0" anchor="t"/>
          <a:lstStyle/>
          <a:p>
            <a:pPr marL="0" indent="0">
              <a:buNone/>
            </a:pPr>
            <a:r>
              <a:rPr lang="en-US" sz="1000" b="1" kern="0" spc="100" dirty="0">
                <a:solidFill>
                  <a:srgbClr val="475569"/>
                </a:solidFill>
                <a:latin typeface="Segoe UI" pitchFamily="34" charset="0"/>
                <a:ea typeface="Segoe UI" pitchFamily="34" charset="-122"/>
                <a:cs typeface="Segoe UI" pitchFamily="34" charset="-120"/>
              </a:rPr>
              <a:t>FIRST STEP</a:t>
            </a:r>
            <a:endParaRPr lang="en-US" sz="1000" dirty="0"/>
          </a:p>
        </p:txBody>
      </p:sp>
      <p:sp>
        <p:nvSpPr>
          <p:cNvPr id="28" name="Text 26"/>
          <p:cNvSpPr/>
          <p:nvPr/>
        </p:nvSpPr>
        <p:spPr>
          <a:xfrm>
            <a:off x="6510528" y="4946904"/>
            <a:ext cx="4846320" cy="365760"/>
          </a:xfrm>
          <a:prstGeom prst="rect">
            <a:avLst/>
          </a:prstGeom>
          <a:noFill/>
          <a:ln/>
        </p:spPr>
        <p:txBody>
          <a:bodyPr wrap="square" lIns="0" tIns="0" rIns="0" bIns="0" rtlCol="0" anchor="t"/>
          <a:lstStyle/>
          <a:p>
            <a:pPr marL="0" indent="0">
              <a:buNone/>
            </a:pPr>
            <a:r>
              <a:rPr lang="en-US" sz="1300" dirty="0">
                <a:solidFill>
                  <a:srgbClr val="1D3557"/>
                </a:solidFill>
                <a:latin typeface="Segoe UI" pitchFamily="34" charset="0"/>
                <a:ea typeface="Segoe UI" pitchFamily="34" charset="-122"/>
                <a:cs typeface="Segoe UI" pitchFamily="34" charset="-120"/>
              </a:rPr>
              <a:t>Scale features on a matched cohort; validate with Silhouette and Davies-Bouldin.</a:t>
            </a:r>
            <a:endParaRPr lang="en-US" sz="1300" dirty="0"/>
          </a:p>
        </p:txBody>
      </p:sp>
      <p:sp>
        <p:nvSpPr>
          <p:cNvPr id="29" name="Shape 27"/>
          <p:cNvSpPr/>
          <p:nvPr/>
        </p:nvSpPr>
        <p:spPr>
          <a:xfrm>
            <a:off x="566928" y="5513832"/>
            <a:ext cx="11064240" cy="384048"/>
          </a:xfrm>
          <a:prstGeom prst="rect">
            <a:avLst/>
          </a:prstGeom>
          <a:solidFill>
            <a:srgbClr val="F4F8F7"/>
          </a:solidFill>
          <a:ln w="12700">
            <a:solidFill>
              <a:srgbClr val="F4F8F7"/>
            </a:solidFill>
            <a:prstDash val="solid"/>
          </a:ln>
        </p:spPr>
        <p:txBody>
          <a:bodyPr/>
          <a:lstStyle/>
          <a:p>
            <a:endParaRPr lang="en-US"/>
          </a:p>
        </p:txBody>
      </p:sp>
      <p:sp>
        <p:nvSpPr>
          <p:cNvPr id="30" name="Text 28"/>
          <p:cNvSpPr/>
          <p:nvPr/>
        </p:nvSpPr>
        <p:spPr>
          <a:xfrm>
            <a:off x="777240" y="5513832"/>
            <a:ext cx="10698480" cy="384048"/>
          </a:xfrm>
          <a:prstGeom prst="rect">
            <a:avLst/>
          </a:prstGeom>
          <a:noFill/>
          <a:ln/>
        </p:spPr>
        <p:txBody>
          <a:bodyPr wrap="square" lIns="0" tIns="0" rIns="0" bIns="0" rtlCol="0" anchor="ctr"/>
          <a:lstStyle/>
          <a:p>
            <a:pPr marL="0" indent="0">
              <a:buNone/>
            </a:pPr>
            <a:r>
              <a:rPr lang="en-US" sz="1300" b="1" dirty="0">
                <a:solidFill>
                  <a:srgbClr val="A76117"/>
                </a:solidFill>
                <a:latin typeface="Segoe UI" pitchFamily="34" charset="0"/>
                <a:ea typeface="Segoe UI" pitchFamily="34" charset="-122"/>
                <a:cs typeface="Segoe UI" pitchFamily="34" charset="-120"/>
              </a:rPr>
              <a:t>Both are proposals. Neither has been built, trained, or validated.</a:t>
            </a:r>
            <a:endParaRPr lang="en-US" sz="1300" dirty="0"/>
          </a:p>
        </p:txBody>
      </p:sp>
      <p:sp>
        <p:nvSpPr>
          <p:cNvPr id="31" name="Text 29"/>
          <p:cNvSpPr/>
          <p:nvPr/>
        </p:nvSpPr>
        <p:spPr>
          <a:xfrm>
            <a:off x="566928" y="5943600"/>
            <a:ext cx="11064240" cy="320040"/>
          </a:xfrm>
          <a:prstGeom prst="rect">
            <a:avLst/>
          </a:prstGeom>
          <a:noFill/>
          <a:ln/>
        </p:spPr>
        <p:txBody>
          <a:bodyPr wrap="square" lIns="0" tIns="0" rIns="0" bIns="0" rtlCol="0" anchor="t"/>
          <a:lstStyle/>
          <a:p>
            <a:pPr marL="0" indent="0">
              <a:buNone/>
            </a:pPr>
            <a:r>
              <a:rPr lang="en-US" sz="1500" b="1" dirty="0">
                <a:solidFill>
                  <a:srgbClr val="1D3557"/>
                </a:solidFill>
                <a:latin typeface="Segoe UI" pitchFamily="34" charset="0"/>
                <a:ea typeface="Segoe UI" pitchFamily="34" charset="-122"/>
                <a:cs typeface="Segoe UI" pitchFamily="34" charset="-120"/>
              </a:rPr>
              <a:t>EDA gives trustworthy insight now. Forecasting and clustering need validation first.</a:t>
            </a:r>
            <a:endParaRPr lang="en-US" sz="1500" dirty="0"/>
          </a:p>
        </p:txBody>
      </p:sp>
      <p:sp>
        <p:nvSpPr>
          <p:cNvPr id="32" name="Shape 30"/>
          <p:cNvSpPr/>
          <p:nvPr/>
        </p:nvSpPr>
        <p:spPr>
          <a:xfrm>
            <a:off x="566928" y="6373368"/>
            <a:ext cx="11064240" cy="0"/>
          </a:xfrm>
          <a:prstGeom prst="line">
            <a:avLst/>
          </a:prstGeom>
          <a:noFill/>
          <a:ln w="12700">
            <a:solidFill>
              <a:srgbClr val="E2E8F0"/>
            </a:solidFill>
            <a:prstDash val="solid"/>
          </a:ln>
        </p:spPr>
        <p:txBody>
          <a:bodyPr/>
          <a:lstStyle/>
          <a:p>
            <a:endParaRPr lang="en-US"/>
          </a:p>
        </p:txBody>
      </p:sp>
      <p:sp>
        <p:nvSpPr>
          <p:cNvPr id="33" name="Text 31"/>
          <p:cNvSpPr/>
          <p:nvPr/>
        </p:nvSpPr>
        <p:spPr>
          <a:xfrm>
            <a:off x="566928" y="6446520"/>
            <a:ext cx="4114800" cy="22860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FINMARK  |  TEAM 3  |  MO-IT162</a:t>
            </a:r>
            <a:endParaRPr lang="en-US" sz="1000" dirty="0"/>
          </a:p>
        </p:txBody>
      </p:sp>
      <p:sp>
        <p:nvSpPr>
          <p:cNvPr id="34" name="Text 32"/>
          <p:cNvSpPr/>
          <p:nvPr/>
        </p:nvSpPr>
        <p:spPr>
          <a:xfrm>
            <a:off x="4206240" y="6446520"/>
            <a:ext cx="6583680"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FinMark findings | supplemental monthly estimate checks</a:t>
            </a:r>
            <a:endParaRPr lang="en-US" sz="1000" dirty="0"/>
          </a:p>
        </p:txBody>
      </p:sp>
      <p:sp>
        <p:nvSpPr>
          <p:cNvPr id="35" name="Text 33"/>
          <p:cNvSpPr/>
          <p:nvPr/>
        </p:nvSpPr>
        <p:spPr>
          <a:xfrm>
            <a:off x="10881360" y="6446520"/>
            <a:ext cx="749808" cy="228600"/>
          </a:xfrm>
          <a:prstGeom prst="rect">
            <a:avLst/>
          </a:prstGeom>
          <a:noFill/>
          <a:ln/>
        </p:spPr>
        <p:txBody>
          <a:bodyPr wrap="square" lIns="0" tIns="0" rIns="0" bIns="0" rtlCol="0" anchor="t"/>
          <a:lstStyle/>
          <a:p>
            <a:pPr marL="0" indent="0" algn="r">
              <a:buNone/>
            </a:pPr>
            <a:r>
              <a:rPr lang="en-US" sz="1000" dirty="0">
                <a:solidFill>
                  <a:srgbClr val="475569"/>
                </a:solidFill>
                <a:latin typeface="Segoe UI" pitchFamily="34" charset="0"/>
                <a:ea typeface="Segoe UI" pitchFamily="34" charset="-122"/>
                <a:cs typeface="Segoe UI" pitchFamily="34" charset="-120"/>
              </a:rPr>
              <a:t>09 / 09</a:t>
            </a:r>
            <a:endParaRPr lang="en-US" sz="1000" dirty="0"/>
          </a:p>
        </p:txBody>
      </p:sp>
      <p:pic>
        <p:nvPicPr>
          <p:cNvPr id="40" name="Image 0" descr="C:\Users\ongoj\OneDrive\Documents\+MachineLearning\MFML\artifacts\finmark_visual_first_refinement\baseline\media\s1_Picture_25.png">
            <a:extLst>
              <a:ext uri="{FF2B5EF4-FFF2-40B4-BE49-F238E27FC236}">
                <a16:creationId xmlns:a16="http://schemas.microsoft.com/office/drawing/2014/main" id="{687C9817-2439-792C-6E60-31E50E5745C1}"/>
              </a:ext>
            </a:extLst>
          </p:cNvPr>
          <p:cNvPicPr>
            <a:picLocks noChangeAspect="1"/>
          </p:cNvPicPr>
          <p:nvPr/>
        </p:nvPicPr>
        <p:blipFill>
          <a:blip r:embed="rId3">
            <a:duotone>
              <a:prstClr val="black"/>
              <a:schemeClr val="accent1">
                <a:tint val="45000"/>
                <a:satMod val="400000"/>
              </a:schemeClr>
            </a:duotone>
            <a:alphaModFix amt="20000"/>
            <a:extLst>
              <a:ext uri="{BEBA8EAE-BF5A-486C-A8C5-ECC9F3942E4B}">
                <a14:imgProps xmlns:a14="http://schemas.microsoft.com/office/drawing/2010/main">
                  <a14:imgLayer r:embed="rId4">
                    <a14:imgEffect>
                      <a14:artisticCement/>
                    </a14:imgEffect>
                  </a14:imgLayer>
                </a14:imgProps>
              </a:ext>
            </a:extLst>
          </a:blip>
          <a:stretch>
            <a:fillRect/>
          </a:stretch>
        </p:blipFill>
        <p:spPr>
          <a:xfrm>
            <a:off x="2779778" y="310898"/>
            <a:ext cx="6291070" cy="6291070"/>
          </a:xfrm>
          <a:prstGeom prst="rect">
            <a:avLst/>
          </a:prstGeom>
          <a:scene3d>
            <a:camera prst="perspectiveContrastingLeftFacing"/>
            <a:lightRig rig="threePt" dir="t"/>
          </a:scene3d>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TotalTime>
  <Words>2071</Words>
  <Application>Microsoft Office PowerPoint</Application>
  <PresentationFormat>Widescreen</PresentationFormat>
  <Paragraphs>231</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FinMark Terminal Assessment (visual-first candidate v3)</dc:title>
  <dc:subject>PptxGenJS Presentation</dc:subject>
  <dc:creator>Team 3</dc:creator>
  <cp:lastModifiedBy>James Ongo</cp:lastModifiedBy>
  <cp:revision>2</cp:revision>
  <dcterms:created xsi:type="dcterms:W3CDTF">2026-10-29T16:01:48Z</dcterms:created>
  <dcterms:modified xsi:type="dcterms:W3CDTF">2026-10-31T23:02:30Z</dcterms:modified>
</cp:coreProperties>
</file>